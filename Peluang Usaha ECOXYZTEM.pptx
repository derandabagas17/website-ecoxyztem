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x="18288000" cy="10287000"/>
  <p:notesSz cx="6858000" cy="9144000"/>
  <p:embeddedFontLst>
    <p:embeddedFont>
      <p:font typeface="Playfair Display Heavy" charset="1" panose="00000000000000000000"/>
      <p:regular r:id="rId18"/>
    </p:embeddedFont>
    <p:embeddedFont>
      <p:font typeface="Cormorant Garamond" charset="1" panose="00000500000000000000"/>
      <p:regular r:id="rId19"/>
    </p:embeddedFont>
    <p:embeddedFont>
      <p:font typeface="Playfair Display" charset="1" panose="00000000000000000000"/>
      <p:regular r:id="rId20"/>
    </p:embeddedFont>
    <p:embeddedFont>
      <p:font typeface="Poppins" charset="1" panose="00000500000000000000"/>
      <p:regular r:id="rId21"/>
    </p:embeddedFont>
    <p:embeddedFont>
      <p:font typeface="Poppins Bold" charset="1" panose="00000800000000000000"/>
      <p:regular r:id="rId22"/>
    </p:embeddedFont>
    <p:embeddedFont>
      <p:font typeface="Open Sans" charset="1" panose="00000000000000000000"/>
      <p:regular r:id="rId2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fonts/font22.fntdata" Type="http://schemas.openxmlformats.org/officeDocument/2006/relationships/font"/><Relationship Id="rId23" Target="fonts/font23.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 Id="rId6" Target="../media/image5.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6.jpeg" Type="http://schemas.openxmlformats.org/officeDocument/2006/relationships/image"/><Relationship Id="rId6" Target="../media/image7.jpeg" Type="http://schemas.openxmlformats.org/officeDocument/2006/relationships/image"/><Relationship Id="rId7" Target="../media/image8.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9.png" Type="http://schemas.openxmlformats.org/officeDocument/2006/relationships/image"/><Relationship Id="rId4" Target="../media/image10.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 Id="rId3" Target="../media/image3.png" Type="http://schemas.openxmlformats.org/officeDocument/2006/relationships/image"/><Relationship Id="rId4" Target="../media/image12.png" Type="http://schemas.openxmlformats.org/officeDocument/2006/relationships/image"/><Relationship Id="rId5" Target="../media/image13.svg" Type="http://schemas.openxmlformats.org/officeDocument/2006/relationships/image"/><Relationship Id="rId6" Target="../media/image14.png" Type="http://schemas.openxmlformats.org/officeDocument/2006/relationships/image"/><Relationship Id="rId7" Target="../media/image15.jpeg" Type="http://schemas.openxmlformats.org/officeDocument/2006/relationships/image"/><Relationship Id="rId8" Target="../media/image16.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17.jpeg" Type="http://schemas.openxmlformats.org/officeDocument/2006/relationships/image"/><Relationship Id="rId4" Target="../media/image18.jpeg" Type="http://schemas.openxmlformats.org/officeDocument/2006/relationships/image"/><Relationship Id="rId5" Target="../media/image19.jpe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20.png" Type="http://schemas.openxmlformats.org/officeDocument/2006/relationships/image"/><Relationship Id="rId4" Target="../media/image21.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17.jpeg" Type="http://schemas.openxmlformats.org/officeDocument/2006/relationships/image"/><Relationship Id="rId4" Target="../media/image22.jpe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23.png" Type="http://schemas.openxmlformats.org/officeDocument/2006/relationships/image"/><Relationship Id="rId4" Target="../media/image24.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25.jpeg" Type="http://schemas.openxmlformats.org/officeDocument/2006/relationships/image"/><Relationship Id="rId4" Target="../media/image26.jpeg" Type="http://schemas.openxmlformats.org/officeDocument/2006/relationships/image"/><Relationship Id="rId5" Target="../media/image27.jpeg" Type="http://schemas.openxmlformats.org/officeDocument/2006/relationships/image"/><Relationship Id="rId6" Target="../media/image28.jpeg" Type="http://schemas.openxmlformats.org/officeDocument/2006/relationships/image"/><Relationship Id="rId7" Target="../media/image29.jpeg" Type="http://schemas.openxmlformats.org/officeDocument/2006/relationships/image"/><Relationship Id="rId8" Target="../media/image30.jpe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31.jpeg" Type="http://schemas.openxmlformats.org/officeDocument/2006/relationships/image"/><Relationship Id="rId4" Target="../media/image32.jpe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5209574" y="-1479214"/>
            <a:ext cx="3698867" cy="5015829"/>
            <a:chOff x="0" y="0"/>
            <a:chExt cx="1494664" cy="2026831"/>
          </a:xfrm>
        </p:grpSpPr>
        <p:sp>
          <p:nvSpPr>
            <p:cNvPr name="Freeform 3" id="3"/>
            <p:cNvSpPr/>
            <p:nvPr/>
          </p:nvSpPr>
          <p:spPr>
            <a:xfrm flipH="false" flipV="false" rot="0">
              <a:off x="0" y="0"/>
              <a:ext cx="1494664" cy="2026831"/>
            </a:xfrm>
            <a:custGeom>
              <a:avLst/>
              <a:gdLst/>
              <a:ahLst/>
              <a:cxnLst/>
              <a:rect r="r" b="b" t="t" l="l"/>
              <a:pathLst>
                <a:path h="2026831" w="1494664">
                  <a:moveTo>
                    <a:pt x="209305" y="0"/>
                  </a:moveTo>
                  <a:lnTo>
                    <a:pt x="1285359" y="0"/>
                  </a:lnTo>
                  <a:cubicBezTo>
                    <a:pt x="1400955" y="0"/>
                    <a:pt x="1494664" y="93709"/>
                    <a:pt x="1494664" y="209305"/>
                  </a:cubicBezTo>
                  <a:lnTo>
                    <a:pt x="1494664" y="1817526"/>
                  </a:lnTo>
                  <a:cubicBezTo>
                    <a:pt x="1494664" y="1933122"/>
                    <a:pt x="1400955" y="2026831"/>
                    <a:pt x="1285359" y="2026831"/>
                  </a:cubicBezTo>
                  <a:lnTo>
                    <a:pt x="209305" y="2026831"/>
                  </a:lnTo>
                  <a:cubicBezTo>
                    <a:pt x="93709" y="2026831"/>
                    <a:pt x="0" y="1933122"/>
                    <a:pt x="0" y="1817526"/>
                  </a:cubicBezTo>
                  <a:lnTo>
                    <a:pt x="0" y="209305"/>
                  </a:lnTo>
                  <a:cubicBezTo>
                    <a:pt x="0" y="93709"/>
                    <a:pt x="93709" y="0"/>
                    <a:pt x="209305" y="0"/>
                  </a:cubicBezTo>
                  <a:close/>
                </a:path>
              </a:pathLst>
            </a:custGeom>
            <a:gradFill rotWithShape="true">
              <a:gsLst>
                <a:gs pos="0">
                  <a:srgbClr val="EBE3D5">
                    <a:alpha val="100000"/>
                  </a:srgbClr>
                </a:gs>
                <a:gs pos="50000">
                  <a:srgbClr val="C8BDAA">
                    <a:alpha val="100000"/>
                  </a:srgbClr>
                </a:gs>
                <a:gs pos="100000">
                  <a:srgbClr val="EBE3D5">
                    <a:alpha val="100000"/>
                  </a:srgbClr>
                </a:gs>
              </a:gsLst>
              <a:lin ang="0"/>
            </a:gradFill>
          </p:spPr>
        </p:sp>
        <p:sp>
          <p:nvSpPr>
            <p:cNvPr name="TextBox 4" id="4"/>
            <p:cNvSpPr txBox="true"/>
            <p:nvPr/>
          </p:nvSpPr>
          <p:spPr>
            <a:xfrm>
              <a:off x="0" y="-47625"/>
              <a:ext cx="1494664" cy="2074456"/>
            </a:xfrm>
            <a:prstGeom prst="rect">
              <a:avLst/>
            </a:prstGeom>
          </p:spPr>
          <p:txBody>
            <a:bodyPr anchor="ctr" rtlCol="false" tIns="45054" lIns="45054" bIns="45054" rIns="45054"/>
            <a:lstStyle/>
            <a:p>
              <a:pPr algn="ctr">
                <a:lnSpc>
                  <a:spcPts val="1986"/>
                </a:lnSpc>
              </a:pPr>
            </a:p>
          </p:txBody>
        </p:sp>
      </p:grpSp>
      <p:grpSp>
        <p:nvGrpSpPr>
          <p:cNvPr name="Group 5" id="5"/>
          <p:cNvGrpSpPr/>
          <p:nvPr/>
        </p:nvGrpSpPr>
        <p:grpSpPr>
          <a:xfrm rot="0">
            <a:off x="2149458" y="6385435"/>
            <a:ext cx="108242" cy="2325270"/>
            <a:chOff x="0" y="0"/>
            <a:chExt cx="43739" cy="939612"/>
          </a:xfrm>
        </p:grpSpPr>
        <p:sp>
          <p:nvSpPr>
            <p:cNvPr name="Freeform 6" id="6"/>
            <p:cNvSpPr/>
            <p:nvPr/>
          </p:nvSpPr>
          <p:spPr>
            <a:xfrm flipH="false" flipV="false" rot="0">
              <a:off x="0" y="0"/>
              <a:ext cx="43739" cy="939612"/>
            </a:xfrm>
            <a:custGeom>
              <a:avLst/>
              <a:gdLst/>
              <a:ahLst/>
              <a:cxnLst/>
              <a:rect r="r" b="b" t="t" l="l"/>
              <a:pathLst>
                <a:path h="939612" w="43739">
                  <a:moveTo>
                    <a:pt x="0" y="0"/>
                  </a:moveTo>
                  <a:lnTo>
                    <a:pt x="43739" y="0"/>
                  </a:lnTo>
                  <a:lnTo>
                    <a:pt x="43739" y="939612"/>
                  </a:lnTo>
                  <a:lnTo>
                    <a:pt x="0" y="939612"/>
                  </a:lnTo>
                  <a:close/>
                </a:path>
              </a:pathLst>
            </a:custGeom>
            <a:gradFill rotWithShape="true">
              <a:gsLst>
                <a:gs pos="0">
                  <a:srgbClr val="EBE3D5">
                    <a:alpha val="100000"/>
                  </a:srgbClr>
                </a:gs>
                <a:gs pos="50000">
                  <a:srgbClr val="C8BDAA">
                    <a:alpha val="100000"/>
                  </a:srgbClr>
                </a:gs>
                <a:gs pos="100000">
                  <a:srgbClr val="EBE3D5">
                    <a:alpha val="100000"/>
                  </a:srgbClr>
                </a:gs>
              </a:gsLst>
              <a:lin ang="0"/>
            </a:gradFill>
          </p:spPr>
        </p:sp>
        <p:sp>
          <p:nvSpPr>
            <p:cNvPr name="TextBox 7" id="7"/>
            <p:cNvSpPr txBox="true"/>
            <p:nvPr/>
          </p:nvSpPr>
          <p:spPr>
            <a:xfrm>
              <a:off x="0" y="-47625"/>
              <a:ext cx="43739" cy="987237"/>
            </a:xfrm>
            <a:prstGeom prst="rect">
              <a:avLst/>
            </a:prstGeom>
          </p:spPr>
          <p:txBody>
            <a:bodyPr anchor="ctr" rtlCol="false" tIns="45054" lIns="45054" bIns="45054" rIns="45054"/>
            <a:lstStyle/>
            <a:p>
              <a:pPr algn="ctr">
                <a:lnSpc>
                  <a:spcPts val="1986"/>
                </a:lnSpc>
              </a:pPr>
            </a:p>
          </p:txBody>
        </p:sp>
      </p:grpSp>
      <p:sp>
        <p:nvSpPr>
          <p:cNvPr name="Freeform 8" id="8"/>
          <p:cNvSpPr/>
          <p:nvPr/>
        </p:nvSpPr>
        <p:spPr>
          <a:xfrm flipH="false" flipV="false" rot="0">
            <a:off x="12225462" y="7680384"/>
            <a:ext cx="490585" cy="454405"/>
          </a:xfrm>
          <a:custGeom>
            <a:avLst/>
            <a:gdLst/>
            <a:ahLst/>
            <a:cxnLst/>
            <a:rect r="r" b="b" t="t" l="l"/>
            <a:pathLst>
              <a:path h="454405" w="490585">
                <a:moveTo>
                  <a:pt x="0" y="0"/>
                </a:moveTo>
                <a:lnTo>
                  <a:pt x="490586" y="0"/>
                </a:lnTo>
                <a:lnTo>
                  <a:pt x="490586" y="454404"/>
                </a:lnTo>
                <a:lnTo>
                  <a:pt x="0" y="45440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2668728" y="7753513"/>
            <a:ext cx="4919187" cy="957192"/>
          </a:xfrm>
          <a:custGeom>
            <a:avLst/>
            <a:gdLst/>
            <a:ahLst/>
            <a:cxnLst/>
            <a:rect r="r" b="b" t="t" l="l"/>
            <a:pathLst>
              <a:path h="957192" w="4919187">
                <a:moveTo>
                  <a:pt x="0" y="0"/>
                </a:moveTo>
                <a:lnTo>
                  <a:pt x="4919186" y="0"/>
                </a:lnTo>
                <a:lnTo>
                  <a:pt x="4919186" y="957192"/>
                </a:lnTo>
                <a:lnTo>
                  <a:pt x="0" y="957192"/>
                </a:lnTo>
                <a:lnTo>
                  <a:pt x="0" y="0"/>
                </a:lnTo>
                <a:close/>
              </a:path>
            </a:pathLst>
          </a:custGeom>
          <a:blipFill>
            <a:blip r:embed="rId4"/>
            <a:stretch>
              <a:fillRect l="0" t="0" r="0" b="0"/>
            </a:stretch>
          </a:blipFill>
        </p:spPr>
      </p:sp>
      <p:sp>
        <p:nvSpPr>
          <p:cNvPr name="TextBox 10" id="10"/>
          <p:cNvSpPr txBox="true"/>
          <p:nvPr/>
        </p:nvSpPr>
        <p:spPr>
          <a:xfrm rot="0">
            <a:off x="2149458" y="1929600"/>
            <a:ext cx="12916554" cy="3174186"/>
          </a:xfrm>
          <a:prstGeom prst="rect">
            <a:avLst/>
          </a:prstGeom>
        </p:spPr>
        <p:txBody>
          <a:bodyPr anchor="t" rtlCol="false" tIns="0" lIns="0" bIns="0" rIns="0">
            <a:spAutoFit/>
          </a:bodyPr>
          <a:lstStyle/>
          <a:p>
            <a:pPr algn="l">
              <a:lnSpc>
                <a:spcPts val="12590"/>
              </a:lnSpc>
            </a:pPr>
            <a:r>
              <a:rPr lang="en-US" sz="10320" b="true">
                <a:solidFill>
                  <a:srgbClr val="694C2B"/>
                </a:solidFill>
                <a:latin typeface="Playfair Display Heavy"/>
                <a:ea typeface="Playfair Display Heavy"/>
                <a:cs typeface="Playfair Display Heavy"/>
                <a:sym typeface="Playfair Display Heavy"/>
              </a:rPr>
              <a:t>Peluang Usaha</a:t>
            </a:r>
          </a:p>
          <a:p>
            <a:pPr algn="l">
              <a:lnSpc>
                <a:spcPts val="12590"/>
              </a:lnSpc>
            </a:pPr>
            <a:r>
              <a:rPr lang="en-US" sz="10320" b="true">
                <a:solidFill>
                  <a:srgbClr val="694C2B"/>
                </a:solidFill>
                <a:latin typeface="Playfair Display Heavy"/>
                <a:ea typeface="Playfair Display Heavy"/>
                <a:cs typeface="Playfair Display Heavy"/>
                <a:sym typeface="Playfair Display Heavy"/>
              </a:rPr>
              <a:t>ECOXYZTEM</a:t>
            </a:r>
          </a:p>
        </p:txBody>
      </p:sp>
      <p:sp>
        <p:nvSpPr>
          <p:cNvPr name="Freeform 11" id="11"/>
          <p:cNvSpPr/>
          <p:nvPr/>
        </p:nvSpPr>
        <p:spPr>
          <a:xfrm flipH="false" flipV="false" rot="0">
            <a:off x="13874368" y="9837075"/>
            <a:ext cx="3556366" cy="617919"/>
          </a:xfrm>
          <a:custGeom>
            <a:avLst/>
            <a:gdLst/>
            <a:ahLst/>
            <a:cxnLst/>
            <a:rect r="r" b="b" t="t" l="l"/>
            <a:pathLst>
              <a:path h="617919" w="3556366">
                <a:moveTo>
                  <a:pt x="0" y="0"/>
                </a:moveTo>
                <a:lnTo>
                  <a:pt x="3556366" y="0"/>
                </a:lnTo>
                <a:lnTo>
                  <a:pt x="3556366" y="617918"/>
                </a:lnTo>
                <a:lnTo>
                  <a:pt x="0" y="617918"/>
                </a:lnTo>
                <a:lnTo>
                  <a:pt x="0" y="0"/>
                </a:lnTo>
                <a:close/>
              </a:path>
            </a:pathLst>
          </a:custGeom>
          <a:blipFill>
            <a:blip r:embed="rId5"/>
            <a:stretch>
              <a:fillRect l="0" t="0" r="0" b="0"/>
            </a:stretch>
          </a:blipFill>
        </p:spPr>
      </p:sp>
      <p:grpSp>
        <p:nvGrpSpPr>
          <p:cNvPr name="Group 12" id="12"/>
          <p:cNvGrpSpPr/>
          <p:nvPr/>
        </p:nvGrpSpPr>
        <p:grpSpPr>
          <a:xfrm rot="0">
            <a:off x="11444593" y="8446132"/>
            <a:ext cx="6843407" cy="1795868"/>
            <a:chOff x="0" y="0"/>
            <a:chExt cx="455698" cy="119586"/>
          </a:xfrm>
        </p:grpSpPr>
        <p:sp>
          <p:nvSpPr>
            <p:cNvPr name="Freeform 13" id="13"/>
            <p:cNvSpPr/>
            <p:nvPr/>
          </p:nvSpPr>
          <p:spPr>
            <a:xfrm flipH="false" flipV="false" rot="0">
              <a:off x="0" y="0"/>
              <a:ext cx="455698" cy="119586"/>
            </a:xfrm>
            <a:custGeom>
              <a:avLst/>
              <a:gdLst/>
              <a:ahLst/>
              <a:cxnLst/>
              <a:rect r="r" b="b" t="t" l="l"/>
              <a:pathLst>
                <a:path h="119586" w="455698">
                  <a:moveTo>
                    <a:pt x="0" y="0"/>
                  </a:moveTo>
                  <a:lnTo>
                    <a:pt x="455698" y="0"/>
                  </a:lnTo>
                  <a:lnTo>
                    <a:pt x="455698" y="119586"/>
                  </a:lnTo>
                  <a:lnTo>
                    <a:pt x="0" y="119586"/>
                  </a:lnTo>
                  <a:close/>
                </a:path>
              </a:pathLst>
            </a:custGeom>
            <a:solidFill>
              <a:srgbClr val="DCD0C0"/>
            </a:solidFill>
          </p:spPr>
        </p:sp>
        <p:sp>
          <p:nvSpPr>
            <p:cNvPr name="TextBox 14" id="14"/>
            <p:cNvSpPr txBox="true"/>
            <p:nvPr/>
          </p:nvSpPr>
          <p:spPr>
            <a:xfrm>
              <a:off x="0" y="-47625"/>
              <a:ext cx="455698" cy="167211"/>
            </a:xfrm>
            <a:prstGeom prst="rect">
              <a:avLst/>
            </a:prstGeom>
          </p:spPr>
          <p:txBody>
            <a:bodyPr anchor="ctr" rtlCol="false" tIns="50800" lIns="50800" bIns="50800" rIns="50800"/>
            <a:lstStyle/>
            <a:p>
              <a:pPr algn="ctr">
                <a:lnSpc>
                  <a:spcPts val="2659"/>
                </a:lnSpc>
                <a:spcBef>
                  <a:spcPct val="0"/>
                </a:spcBef>
              </a:pPr>
            </a:p>
          </p:txBody>
        </p:sp>
      </p:grpSp>
      <p:sp>
        <p:nvSpPr>
          <p:cNvPr name="Freeform 15" id="15"/>
          <p:cNvSpPr/>
          <p:nvPr/>
        </p:nvSpPr>
        <p:spPr>
          <a:xfrm flipH="false" flipV="false" rot="0">
            <a:off x="11858706" y="3917222"/>
            <a:ext cx="4952853" cy="5919853"/>
          </a:xfrm>
          <a:custGeom>
            <a:avLst/>
            <a:gdLst/>
            <a:ahLst/>
            <a:cxnLst/>
            <a:rect r="r" b="b" t="t" l="l"/>
            <a:pathLst>
              <a:path h="5919853" w="4952853">
                <a:moveTo>
                  <a:pt x="0" y="0"/>
                </a:moveTo>
                <a:lnTo>
                  <a:pt x="4952853" y="0"/>
                </a:lnTo>
                <a:lnTo>
                  <a:pt x="4952853" y="5919853"/>
                </a:lnTo>
                <a:lnTo>
                  <a:pt x="0" y="5919853"/>
                </a:lnTo>
                <a:lnTo>
                  <a:pt x="0" y="0"/>
                </a:lnTo>
                <a:close/>
              </a:path>
            </a:pathLst>
          </a:custGeom>
          <a:blipFill>
            <a:blip r:embed="rId6"/>
            <a:stretch>
              <a:fillRect l="0" t="0" r="0" b="0"/>
            </a:stretch>
          </a:blipFill>
        </p:spPr>
      </p:sp>
      <p:sp>
        <p:nvSpPr>
          <p:cNvPr name="TextBox 16" id="16"/>
          <p:cNvSpPr txBox="true"/>
          <p:nvPr/>
        </p:nvSpPr>
        <p:spPr>
          <a:xfrm rot="0">
            <a:off x="13219712" y="9634919"/>
            <a:ext cx="2861472" cy="470987"/>
          </a:xfrm>
          <a:prstGeom prst="rect">
            <a:avLst/>
          </a:prstGeom>
        </p:spPr>
        <p:txBody>
          <a:bodyPr anchor="t" rtlCol="false" tIns="0" lIns="0" bIns="0" rIns="0">
            <a:spAutoFit/>
          </a:bodyPr>
          <a:lstStyle/>
          <a:p>
            <a:pPr algn="l">
              <a:lnSpc>
                <a:spcPts val="3542"/>
              </a:lnSpc>
            </a:pPr>
            <a:r>
              <a:rPr lang="en-US" sz="3542">
                <a:solidFill>
                  <a:srgbClr val="FFFFFF"/>
                </a:solidFill>
                <a:latin typeface="Cormorant Garamond"/>
                <a:ea typeface="Cormorant Garamond"/>
                <a:cs typeface="Cormorant Garamond"/>
                <a:sym typeface="Cormorant Garamond"/>
              </a:rPr>
              <a:t>AURALIS</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462055" y="6574378"/>
            <a:ext cx="291213" cy="2467582"/>
            <a:chOff x="0" y="0"/>
            <a:chExt cx="117675" cy="997118"/>
          </a:xfrm>
        </p:grpSpPr>
        <p:sp>
          <p:nvSpPr>
            <p:cNvPr name="Freeform 3" id="3"/>
            <p:cNvSpPr/>
            <p:nvPr/>
          </p:nvSpPr>
          <p:spPr>
            <a:xfrm flipH="false" flipV="false" rot="0">
              <a:off x="0" y="0"/>
              <a:ext cx="117675" cy="997118"/>
            </a:xfrm>
            <a:custGeom>
              <a:avLst/>
              <a:gdLst/>
              <a:ahLst/>
              <a:cxnLst/>
              <a:rect r="r" b="b" t="t" l="l"/>
              <a:pathLst>
                <a:path h="997118" w="117675">
                  <a:moveTo>
                    <a:pt x="0" y="0"/>
                  </a:moveTo>
                  <a:lnTo>
                    <a:pt x="117675" y="0"/>
                  </a:lnTo>
                  <a:lnTo>
                    <a:pt x="117675" y="997118"/>
                  </a:lnTo>
                  <a:lnTo>
                    <a:pt x="0" y="997118"/>
                  </a:lnTo>
                  <a:close/>
                </a:path>
              </a:pathLst>
            </a:custGeom>
            <a:gradFill rotWithShape="true">
              <a:gsLst>
                <a:gs pos="0">
                  <a:srgbClr val="EBE3D5">
                    <a:alpha val="100000"/>
                  </a:srgbClr>
                </a:gs>
                <a:gs pos="50000">
                  <a:srgbClr val="C8BDAA">
                    <a:alpha val="100000"/>
                  </a:srgbClr>
                </a:gs>
                <a:gs pos="100000">
                  <a:srgbClr val="EBE3D5">
                    <a:alpha val="100000"/>
                  </a:srgbClr>
                </a:gs>
              </a:gsLst>
              <a:lin ang="0"/>
            </a:gradFill>
          </p:spPr>
        </p:sp>
        <p:sp>
          <p:nvSpPr>
            <p:cNvPr name="TextBox 4" id="4"/>
            <p:cNvSpPr txBox="true"/>
            <p:nvPr/>
          </p:nvSpPr>
          <p:spPr>
            <a:xfrm>
              <a:off x="0" y="-47625"/>
              <a:ext cx="117675" cy="1044743"/>
            </a:xfrm>
            <a:prstGeom prst="rect">
              <a:avLst/>
            </a:prstGeom>
          </p:spPr>
          <p:txBody>
            <a:bodyPr anchor="ctr" rtlCol="false" tIns="45054" lIns="45054" bIns="45054" rIns="45054"/>
            <a:lstStyle/>
            <a:p>
              <a:pPr algn="ctr">
                <a:lnSpc>
                  <a:spcPts val="1986"/>
                </a:lnSpc>
              </a:pPr>
            </a:p>
          </p:txBody>
        </p:sp>
      </p:grpSp>
      <p:sp>
        <p:nvSpPr>
          <p:cNvPr name="Freeform 5" id="5"/>
          <p:cNvSpPr/>
          <p:nvPr/>
        </p:nvSpPr>
        <p:spPr>
          <a:xfrm flipH="false" flipV="false" rot="0">
            <a:off x="13403578" y="6859246"/>
            <a:ext cx="490585" cy="454405"/>
          </a:xfrm>
          <a:custGeom>
            <a:avLst/>
            <a:gdLst/>
            <a:ahLst/>
            <a:cxnLst/>
            <a:rect r="r" b="b" t="t" l="l"/>
            <a:pathLst>
              <a:path h="454405" w="490585">
                <a:moveTo>
                  <a:pt x="0" y="0"/>
                </a:moveTo>
                <a:lnTo>
                  <a:pt x="490585" y="0"/>
                </a:lnTo>
                <a:lnTo>
                  <a:pt x="490585" y="454404"/>
                </a:lnTo>
                <a:lnTo>
                  <a:pt x="0" y="45440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0">
            <a:off x="17529152" y="284456"/>
            <a:ext cx="291213" cy="2467582"/>
            <a:chOff x="0" y="0"/>
            <a:chExt cx="117675" cy="997118"/>
          </a:xfrm>
        </p:grpSpPr>
        <p:sp>
          <p:nvSpPr>
            <p:cNvPr name="Freeform 7" id="7"/>
            <p:cNvSpPr/>
            <p:nvPr/>
          </p:nvSpPr>
          <p:spPr>
            <a:xfrm flipH="false" flipV="false" rot="0">
              <a:off x="0" y="0"/>
              <a:ext cx="117675" cy="997118"/>
            </a:xfrm>
            <a:custGeom>
              <a:avLst/>
              <a:gdLst/>
              <a:ahLst/>
              <a:cxnLst/>
              <a:rect r="r" b="b" t="t" l="l"/>
              <a:pathLst>
                <a:path h="997118" w="117675">
                  <a:moveTo>
                    <a:pt x="0" y="0"/>
                  </a:moveTo>
                  <a:lnTo>
                    <a:pt x="117675" y="0"/>
                  </a:lnTo>
                  <a:lnTo>
                    <a:pt x="117675" y="997118"/>
                  </a:lnTo>
                  <a:lnTo>
                    <a:pt x="0" y="997118"/>
                  </a:lnTo>
                  <a:close/>
                </a:path>
              </a:pathLst>
            </a:custGeom>
            <a:gradFill rotWithShape="true">
              <a:gsLst>
                <a:gs pos="0">
                  <a:srgbClr val="EBE3D5">
                    <a:alpha val="100000"/>
                  </a:srgbClr>
                </a:gs>
                <a:gs pos="50000">
                  <a:srgbClr val="C8BDAA">
                    <a:alpha val="100000"/>
                  </a:srgbClr>
                </a:gs>
                <a:gs pos="100000">
                  <a:srgbClr val="EBE3D5">
                    <a:alpha val="100000"/>
                  </a:srgbClr>
                </a:gs>
              </a:gsLst>
              <a:lin ang="0"/>
            </a:gradFill>
          </p:spPr>
        </p:sp>
        <p:sp>
          <p:nvSpPr>
            <p:cNvPr name="TextBox 8" id="8"/>
            <p:cNvSpPr txBox="true"/>
            <p:nvPr/>
          </p:nvSpPr>
          <p:spPr>
            <a:xfrm>
              <a:off x="0" y="-47625"/>
              <a:ext cx="117675" cy="1044743"/>
            </a:xfrm>
            <a:prstGeom prst="rect">
              <a:avLst/>
            </a:prstGeom>
          </p:spPr>
          <p:txBody>
            <a:bodyPr anchor="ctr" rtlCol="false" tIns="45054" lIns="45054" bIns="45054" rIns="45054"/>
            <a:lstStyle/>
            <a:p>
              <a:pPr algn="ctr">
                <a:lnSpc>
                  <a:spcPts val="1986"/>
                </a:lnSpc>
              </a:pPr>
            </a:p>
          </p:txBody>
        </p:sp>
      </p:grpSp>
      <p:grpSp>
        <p:nvGrpSpPr>
          <p:cNvPr name="Group 9" id="9"/>
          <p:cNvGrpSpPr/>
          <p:nvPr/>
        </p:nvGrpSpPr>
        <p:grpSpPr>
          <a:xfrm rot="0">
            <a:off x="607661" y="7313650"/>
            <a:ext cx="291213" cy="2467582"/>
            <a:chOff x="0" y="0"/>
            <a:chExt cx="117675" cy="997118"/>
          </a:xfrm>
        </p:grpSpPr>
        <p:sp>
          <p:nvSpPr>
            <p:cNvPr name="Freeform 10" id="10"/>
            <p:cNvSpPr/>
            <p:nvPr/>
          </p:nvSpPr>
          <p:spPr>
            <a:xfrm flipH="false" flipV="false" rot="0">
              <a:off x="0" y="0"/>
              <a:ext cx="117675" cy="997118"/>
            </a:xfrm>
            <a:custGeom>
              <a:avLst/>
              <a:gdLst/>
              <a:ahLst/>
              <a:cxnLst/>
              <a:rect r="r" b="b" t="t" l="l"/>
              <a:pathLst>
                <a:path h="997118" w="117675">
                  <a:moveTo>
                    <a:pt x="0" y="0"/>
                  </a:moveTo>
                  <a:lnTo>
                    <a:pt x="117675" y="0"/>
                  </a:lnTo>
                  <a:lnTo>
                    <a:pt x="117675" y="997118"/>
                  </a:lnTo>
                  <a:lnTo>
                    <a:pt x="0" y="997118"/>
                  </a:lnTo>
                  <a:close/>
                </a:path>
              </a:pathLst>
            </a:custGeom>
            <a:gradFill rotWithShape="true">
              <a:gsLst>
                <a:gs pos="0">
                  <a:srgbClr val="EBE3D5">
                    <a:alpha val="100000"/>
                  </a:srgbClr>
                </a:gs>
                <a:gs pos="50000">
                  <a:srgbClr val="C8BDAA">
                    <a:alpha val="100000"/>
                  </a:srgbClr>
                </a:gs>
                <a:gs pos="100000">
                  <a:srgbClr val="EBE3D5">
                    <a:alpha val="100000"/>
                  </a:srgbClr>
                </a:gs>
              </a:gsLst>
              <a:lin ang="0"/>
            </a:gradFill>
          </p:spPr>
        </p:sp>
        <p:sp>
          <p:nvSpPr>
            <p:cNvPr name="TextBox 11" id="11"/>
            <p:cNvSpPr txBox="true"/>
            <p:nvPr/>
          </p:nvSpPr>
          <p:spPr>
            <a:xfrm>
              <a:off x="0" y="-47625"/>
              <a:ext cx="117675" cy="1044743"/>
            </a:xfrm>
            <a:prstGeom prst="rect">
              <a:avLst/>
            </a:prstGeom>
          </p:spPr>
          <p:txBody>
            <a:bodyPr anchor="ctr" rtlCol="false" tIns="45054" lIns="45054" bIns="45054" rIns="45054"/>
            <a:lstStyle/>
            <a:p>
              <a:pPr algn="ctr">
                <a:lnSpc>
                  <a:spcPts val="1986"/>
                </a:lnSpc>
              </a:pPr>
            </a:p>
          </p:txBody>
        </p:sp>
      </p:grpSp>
      <p:grpSp>
        <p:nvGrpSpPr>
          <p:cNvPr name="Group 12" id="12"/>
          <p:cNvGrpSpPr/>
          <p:nvPr/>
        </p:nvGrpSpPr>
        <p:grpSpPr>
          <a:xfrm rot="0">
            <a:off x="17383546" y="1028700"/>
            <a:ext cx="291213" cy="2467582"/>
            <a:chOff x="0" y="0"/>
            <a:chExt cx="117675" cy="997118"/>
          </a:xfrm>
        </p:grpSpPr>
        <p:sp>
          <p:nvSpPr>
            <p:cNvPr name="Freeform 13" id="13"/>
            <p:cNvSpPr/>
            <p:nvPr/>
          </p:nvSpPr>
          <p:spPr>
            <a:xfrm flipH="false" flipV="false" rot="0">
              <a:off x="0" y="0"/>
              <a:ext cx="117675" cy="997118"/>
            </a:xfrm>
            <a:custGeom>
              <a:avLst/>
              <a:gdLst/>
              <a:ahLst/>
              <a:cxnLst/>
              <a:rect r="r" b="b" t="t" l="l"/>
              <a:pathLst>
                <a:path h="997118" w="117675">
                  <a:moveTo>
                    <a:pt x="0" y="0"/>
                  </a:moveTo>
                  <a:lnTo>
                    <a:pt x="117675" y="0"/>
                  </a:lnTo>
                  <a:lnTo>
                    <a:pt x="117675" y="997118"/>
                  </a:lnTo>
                  <a:lnTo>
                    <a:pt x="0" y="997118"/>
                  </a:lnTo>
                  <a:close/>
                </a:path>
              </a:pathLst>
            </a:custGeom>
            <a:gradFill rotWithShape="true">
              <a:gsLst>
                <a:gs pos="0">
                  <a:srgbClr val="EBE3D5">
                    <a:alpha val="100000"/>
                  </a:srgbClr>
                </a:gs>
                <a:gs pos="50000">
                  <a:srgbClr val="C8BDAA">
                    <a:alpha val="100000"/>
                  </a:srgbClr>
                </a:gs>
                <a:gs pos="100000">
                  <a:srgbClr val="EBE3D5">
                    <a:alpha val="100000"/>
                  </a:srgbClr>
                </a:gs>
              </a:gsLst>
              <a:lin ang="0"/>
            </a:gradFill>
          </p:spPr>
        </p:sp>
        <p:sp>
          <p:nvSpPr>
            <p:cNvPr name="TextBox 14" id="14"/>
            <p:cNvSpPr txBox="true"/>
            <p:nvPr/>
          </p:nvSpPr>
          <p:spPr>
            <a:xfrm>
              <a:off x="0" y="-47625"/>
              <a:ext cx="117675" cy="1044743"/>
            </a:xfrm>
            <a:prstGeom prst="rect">
              <a:avLst/>
            </a:prstGeom>
          </p:spPr>
          <p:txBody>
            <a:bodyPr anchor="ctr" rtlCol="false" tIns="45054" lIns="45054" bIns="45054" rIns="45054"/>
            <a:lstStyle/>
            <a:p>
              <a:pPr algn="ctr">
                <a:lnSpc>
                  <a:spcPts val="1986"/>
                </a:lnSpc>
              </a:pPr>
            </a:p>
          </p:txBody>
        </p:sp>
      </p:grpSp>
      <p:sp>
        <p:nvSpPr>
          <p:cNvPr name="Freeform 15" id="15"/>
          <p:cNvSpPr/>
          <p:nvPr/>
        </p:nvSpPr>
        <p:spPr>
          <a:xfrm flipH="false" flipV="false" rot="0">
            <a:off x="14689919" y="9476665"/>
            <a:ext cx="3130446" cy="609133"/>
          </a:xfrm>
          <a:custGeom>
            <a:avLst/>
            <a:gdLst/>
            <a:ahLst/>
            <a:cxnLst/>
            <a:rect r="r" b="b" t="t" l="l"/>
            <a:pathLst>
              <a:path h="609133" w="3130446">
                <a:moveTo>
                  <a:pt x="0" y="0"/>
                </a:moveTo>
                <a:lnTo>
                  <a:pt x="3130446" y="0"/>
                </a:lnTo>
                <a:lnTo>
                  <a:pt x="3130446" y="609133"/>
                </a:lnTo>
                <a:lnTo>
                  <a:pt x="0" y="609133"/>
                </a:lnTo>
                <a:lnTo>
                  <a:pt x="0" y="0"/>
                </a:lnTo>
                <a:close/>
              </a:path>
            </a:pathLst>
          </a:custGeom>
          <a:blipFill>
            <a:blip r:embed="rId4"/>
            <a:stretch>
              <a:fillRect l="0" t="0" r="0" b="0"/>
            </a:stretch>
          </a:blipFill>
        </p:spPr>
      </p:sp>
      <p:grpSp>
        <p:nvGrpSpPr>
          <p:cNvPr name="Group 16" id="16"/>
          <p:cNvGrpSpPr/>
          <p:nvPr/>
        </p:nvGrpSpPr>
        <p:grpSpPr>
          <a:xfrm rot="0">
            <a:off x="2875548" y="2876160"/>
            <a:ext cx="2675933" cy="3698218"/>
            <a:chOff x="0" y="0"/>
            <a:chExt cx="595144" cy="822506"/>
          </a:xfrm>
        </p:grpSpPr>
        <p:sp>
          <p:nvSpPr>
            <p:cNvPr name="Freeform 17" id="17"/>
            <p:cNvSpPr/>
            <p:nvPr/>
          </p:nvSpPr>
          <p:spPr>
            <a:xfrm flipH="false" flipV="false" rot="0">
              <a:off x="0" y="0"/>
              <a:ext cx="595144" cy="822506"/>
            </a:xfrm>
            <a:custGeom>
              <a:avLst/>
              <a:gdLst/>
              <a:ahLst/>
              <a:cxnLst/>
              <a:rect r="r" b="b" t="t" l="l"/>
              <a:pathLst>
                <a:path h="822506" w="595144">
                  <a:moveTo>
                    <a:pt x="98368" y="0"/>
                  </a:moveTo>
                  <a:lnTo>
                    <a:pt x="496776" y="0"/>
                  </a:lnTo>
                  <a:cubicBezTo>
                    <a:pt x="522865" y="0"/>
                    <a:pt x="547885" y="10364"/>
                    <a:pt x="566332" y="28811"/>
                  </a:cubicBezTo>
                  <a:cubicBezTo>
                    <a:pt x="584780" y="47259"/>
                    <a:pt x="595144" y="72279"/>
                    <a:pt x="595144" y="98368"/>
                  </a:cubicBezTo>
                  <a:lnTo>
                    <a:pt x="595144" y="724138"/>
                  </a:lnTo>
                  <a:cubicBezTo>
                    <a:pt x="595144" y="750227"/>
                    <a:pt x="584780" y="775247"/>
                    <a:pt x="566332" y="793695"/>
                  </a:cubicBezTo>
                  <a:cubicBezTo>
                    <a:pt x="547885" y="812142"/>
                    <a:pt x="522865" y="822506"/>
                    <a:pt x="496776" y="822506"/>
                  </a:cubicBezTo>
                  <a:lnTo>
                    <a:pt x="98368" y="822506"/>
                  </a:lnTo>
                  <a:cubicBezTo>
                    <a:pt x="72279" y="822506"/>
                    <a:pt x="47259" y="812142"/>
                    <a:pt x="28811" y="793695"/>
                  </a:cubicBezTo>
                  <a:cubicBezTo>
                    <a:pt x="10364" y="775247"/>
                    <a:pt x="0" y="750227"/>
                    <a:pt x="0" y="724138"/>
                  </a:cubicBezTo>
                  <a:lnTo>
                    <a:pt x="0" y="98368"/>
                  </a:lnTo>
                  <a:cubicBezTo>
                    <a:pt x="0" y="72279"/>
                    <a:pt x="10364" y="47259"/>
                    <a:pt x="28811" y="28811"/>
                  </a:cubicBezTo>
                  <a:cubicBezTo>
                    <a:pt x="47259" y="10364"/>
                    <a:pt x="72279" y="0"/>
                    <a:pt x="98368" y="0"/>
                  </a:cubicBezTo>
                  <a:close/>
                </a:path>
              </a:pathLst>
            </a:custGeom>
            <a:blipFill>
              <a:blip r:embed="rId5"/>
              <a:stretch>
                <a:fillRect l="-19101" t="0" r="-19101" b="0"/>
              </a:stretch>
            </a:blipFill>
            <a:ln w="38100" cap="rnd">
              <a:gradFill>
                <a:gsLst>
                  <a:gs pos="0">
                    <a:srgbClr val="FF5757">
                      <a:alpha val="100000"/>
                    </a:srgbClr>
                  </a:gs>
                  <a:gs pos="100000">
                    <a:srgbClr val="8C52FF">
                      <a:alpha val="100000"/>
                    </a:srgbClr>
                  </a:gs>
                </a:gsLst>
                <a:lin ang="0"/>
              </a:gradFill>
              <a:prstDash val="solid"/>
              <a:round/>
            </a:ln>
          </p:spPr>
        </p:sp>
      </p:grpSp>
      <p:grpSp>
        <p:nvGrpSpPr>
          <p:cNvPr name="Group 18" id="18"/>
          <p:cNvGrpSpPr/>
          <p:nvPr/>
        </p:nvGrpSpPr>
        <p:grpSpPr>
          <a:xfrm rot="0">
            <a:off x="7666030" y="2898683"/>
            <a:ext cx="2739536" cy="3786120"/>
            <a:chOff x="0" y="0"/>
            <a:chExt cx="595144" cy="822506"/>
          </a:xfrm>
        </p:grpSpPr>
        <p:sp>
          <p:nvSpPr>
            <p:cNvPr name="Freeform 19" id="19"/>
            <p:cNvSpPr/>
            <p:nvPr/>
          </p:nvSpPr>
          <p:spPr>
            <a:xfrm flipH="false" flipV="false" rot="0">
              <a:off x="0" y="0"/>
              <a:ext cx="595144" cy="822506"/>
            </a:xfrm>
            <a:custGeom>
              <a:avLst/>
              <a:gdLst/>
              <a:ahLst/>
              <a:cxnLst/>
              <a:rect r="r" b="b" t="t" l="l"/>
              <a:pathLst>
                <a:path h="822506" w="595144">
                  <a:moveTo>
                    <a:pt x="96084" y="0"/>
                  </a:moveTo>
                  <a:lnTo>
                    <a:pt x="499060" y="0"/>
                  </a:lnTo>
                  <a:cubicBezTo>
                    <a:pt x="524543" y="0"/>
                    <a:pt x="548982" y="10123"/>
                    <a:pt x="567001" y="28142"/>
                  </a:cubicBezTo>
                  <a:cubicBezTo>
                    <a:pt x="585020" y="46162"/>
                    <a:pt x="595144" y="70601"/>
                    <a:pt x="595144" y="96084"/>
                  </a:cubicBezTo>
                  <a:lnTo>
                    <a:pt x="595144" y="726422"/>
                  </a:lnTo>
                  <a:cubicBezTo>
                    <a:pt x="595144" y="751905"/>
                    <a:pt x="585020" y="776345"/>
                    <a:pt x="567001" y="794364"/>
                  </a:cubicBezTo>
                  <a:cubicBezTo>
                    <a:pt x="548982" y="812383"/>
                    <a:pt x="524543" y="822506"/>
                    <a:pt x="499060" y="822506"/>
                  </a:cubicBezTo>
                  <a:lnTo>
                    <a:pt x="96084" y="822506"/>
                  </a:lnTo>
                  <a:cubicBezTo>
                    <a:pt x="70601" y="822506"/>
                    <a:pt x="46162" y="812383"/>
                    <a:pt x="28142" y="794364"/>
                  </a:cubicBezTo>
                  <a:cubicBezTo>
                    <a:pt x="10123" y="776345"/>
                    <a:pt x="0" y="751905"/>
                    <a:pt x="0" y="726422"/>
                  </a:cubicBezTo>
                  <a:lnTo>
                    <a:pt x="0" y="96084"/>
                  </a:lnTo>
                  <a:cubicBezTo>
                    <a:pt x="0" y="70601"/>
                    <a:pt x="10123" y="46162"/>
                    <a:pt x="28142" y="28142"/>
                  </a:cubicBezTo>
                  <a:cubicBezTo>
                    <a:pt x="46162" y="10123"/>
                    <a:pt x="70601" y="0"/>
                    <a:pt x="96084" y="0"/>
                  </a:cubicBezTo>
                  <a:close/>
                </a:path>
              </a:pathLst>
            </a:custGeom>
            <a:blipFill>
              <a:blip r:embed="rId6"/>
              <a:stretch>
                <a:fillRect l="0" t="0" r="0" b="-8733"/>
              </a:stretch>
            </a:blipFill>
            <a:ln w="38100" cap="rnd">
              <a:gradFill>
                <a:gsLst>
                  <a:gs pos="0">
                    <a:srgbClr val="FF5757">
                      <a:alpha val="100000"/>
                    </a:srgbClr>
                  </a:gs>
                  <a:gs pos="100000">
                    <a:srgbClr val="8C52FF">
                      <a:alpha val="100000"/>
                    </a:srgbClr>
                  </a:gs>
                </a:gsLst>
                <a:lin ang="0"/>
              </a:gradFill>
              <a:prstDash val="solid"/>
              <a:round/>
            </a:ln>
          </p:spPr>
        </p:sp>
      </p:grpSp>
      <p:grpSp>
        <p:nvGrpSpPr>
          <p:cNvPr name="Group 20" id="20"/>
          <p:cNvGrpSpPr/>
          <p:nvPr/>
        </p:nvGrpSpPr>
        <p:grpSpPr>
          <a:xfrm rot="0">
            <a:off x="12520116" y="2848818"/>
            <a:ext cx="2748095" cy="3797949"/>
            <a:chOff x="0" y="0"/>
            <a:chExt cx="595144" cy="822506"/>
          </a:xfrm>
        </p:grpSpPr>
        <p:sp>
          <p:nvSpPr>
            <p:cNvPr name="Freeform 21" id="21"/>
            <p:cNvSpPr/>
            <p:nvPr/>
          </p:nvSpPr>
          <p:spPr>
            <a:xfrm flipH="false" flipV="false" rot="0">
              <a:off x="0" y="0"/>
              <a:ext cx="595144" cy="822506"/>
            </a:xfrm>
            <a:custGeom>
              <a:avLst/>
              <a:gdLst/>
              <a:ahLst/>
              <a:cxnLst/>
              <a:rect r="r" b="b" t="t" l="l"/>
              <a:pathLst>
                <a:path h="822506" w="595144">
                  <a:moveTo>
                    <a:pt x="95785" y="0"/>
                  </a:moveTo>
                  <a:lnTo>
                    <a:pt x="499359" y="0"/>
                  </a:lnTo>
                  <a:cubicBezTo>
                    <a:pt x="552259" y="0"/>
                    <a:pt x="595144" y="42884"/>
                    <a:pt x="595144" y="95785"/>
                  </a:cubicBezTo>
                  <a:lnTo>
                    <a:pt x="595144" y="726721"/>
                  </a:lnTo>
                  <a:cubicBezTo>
                    <a:pt x="595144" y="752125"/>
                    <a:pt x="585052" y="776488"/>
                    <a:pt x="567089" y="794451"/>
                  </a:cubicBezTo>
                  <a:cubicBezTo>
                    <a:pt x="549126" y="812415"/>
                    <a:pt x="524763" y="822506"/>
                    <a:pt x="499359" y="822506"/>
                  </a:cubicBezTo>
                  <a:lnTo>
                    <a:pt x="95785" y="822506"/>
                  </a:lnTo>
                  <a:cubicBezTo>
                    <a:pt x="42884" y="822506"/>
                    <a:pt x="0" y="779622"/>
                    <a:pt x="0" y="726721"/>
                  </a:cubicBezTo>
                  <a:lnTo>
                    <a:pt x="0" y="95785"/>
                  </a:lnTo>
                  <a:cubicBezTo>
                    <a:pt x="0" y="42884"/>
                    <a:pt x="42884" y="0"/>
                    <a:pt x="95785" y="0"/>
                  </a:cubicBezTo>
                  <a:close/>
                </a:path>
              </a:pathLst>
            </a:custGeom>
            <a:blipFill>
              <a:blip r:embed="rId7"/>
              <a:stretch>
                <a:fillRect l="0" t="-9553" r="0" b="-9553"/>
              </a:stretch>
            </a:blipFill>
            <a:ln w="38100" cap="rnd">
              <a:gradFill>
                <a:gsLst>
                  <a:gs pos="0">
                    <a:srgbClr val="FF5757">
                      <a:alpha val="100000"/>
                    </a:srgbClr>
                  </a:gs>
                  <a:gs pos="100000">
                    <a:srgbClr val="8C52FF">
                      <a:alpha val="100000"/>
                    </a:srgbClr>
                  </a:gs>
                </a:gsLst>
                <a:lin ang="0"/>
              </a:gradFill>
              <a:prstDash val="solid"/>
              <a:round/>
            </a:ln>
          </p:spPr>
        </p:sp>
      </p:grpSp>
      <p:sp>
        <p:nvSpPr>
          <p:cNvPr name="TextBox 22" id="22"/>
          <p:cNvSpPr txBox="true"/>
          <p:nvPr/>
        </p:nvSpPr>
        <p:spPr>
          <a:xfrm rot="0">
            <a:off x="1163683" y="923925"/>
            <a:ext cx="5846922" cy="913011"/>
          </a:xfrm>
          <a:prstGeom prst="rect">
            <a:avLst/>
          </a:prstGeom>
        </p:spPr>
        <p:txBody>
          <a:bodyPr anchor="t" rtlCol="false" tIns="0" lIns="0" bIns="0" rIns="0">
            <a:spAutoFit/>
          </a:bodyPr>
          <a:lstStyle/>
          <a:p>
            <a:pPr algn="ctr">
              <a:lnSpc>
                <a:spcPts val="7426"/>
              </a:lnSpc>
              <a:spcBef>
                <a:spcPct val="0"/>
              </a:spcBef>
            </a:pPr>
            <a:r>
              <a:rPr lang="en-US" sz="5304">
                <a:solidFill>
                  <a:srgbClr val="694C2B"/>
                </a:solidFill>
                <a:latin typeface="Playfair Display"/>
                <a:ea typeface="Playfair Display"/>
                <a:cs typeface="Playfair Display"/>
                <a:sym typeface="Playfair Display"/>
              </a:rPr>
              <a:t>Anggota Kelompok </a:t>
            </a:r>
          </a:p>
        </p:txBody>
      </p:sp>
      <p:sp>
        <p:nvSpPr>
          <p:cNvPr name="TextBox 23" id="23"/>
          <p:cNvSpPr txBox="true"/>
          <p:nvPr/>
        </p:nvSpPr>
        <p:spPr>
          <a:xfrm rot="0">
            <a:off x="2380672" y="6869790"/>
            <a:ext cx="3090072" cy="912216"/>
          </a:xfrm>
          <a:prstGeom prst="rect">
            <a:avLst/>
          </a:prstGeom>
        </p:spPr>
        <p:txBody>
          <a:bodyPr anchor="t" rtlCol="false" tIns="0" lIns="0" bIns="0" rIns="0">
            <a:spAutoFit/>
          </a:bodyPr>
          <a:lstStyle/>
          <a:p>
            <a:pPr algn="ctr">
              <a:lnSpc>
                <a:spcPts val="2429"/>
              </a:lnSpc>
              <a:spcBef>
                <a:spcPct val="0"/>
              </a:spcBef>
            </a:pPr>
            <a:r>
              <a:rPr lang="en-US" sz="1735">
                <a:solidFill>
                  <a:srgbClr val="000000"/>
                </a:solidFill>
                <a:latin typeface="Poppins"/>
                <a:ea typeface="Poppins"/>
                <a:cs typeface="Poppins"/>
                <a:sym typeface="Poppins"/>
              </a:rPr>
              <a:t>A11.2023.14906</a:t>
            </a:r>
          </a:p>
          <a:p>
            <a:pPr algn="ctr">
              <a:lnSpc>
                <a:spcPts val="2429"/>
              </a:lnSpc>
              <a:spcBef>
                <a:spcPct val="0"/>
              </a:spcBef>
            </a:pPr>
            <a:r>
              <a:rPr lang="en-US" sz="1735">
                <a:solidFill>
                  <a:srgbClr val="000000"/>
                </a:solidFill>
                <a:latin typeface="Poppins"/>
                <a:ea typeface="Poppins"/>
                <a:cs typeface="Poppins"/>
                <a:sym typeface="Poppins"/>
              </a:rPr>
              <a:t>Deranda Bagas Pamungkas</a:t>
            </a:r>
          </a:p>
          <a:p>
            <a:pPr algn="ctr">
              <a:lnSpc>
                <a:spcPts val="2429"/>
              </a:lnSpc>
              <a:spcBef>
                <a:spcPct val="0"/>
              </a:spcBef>
            </a:pPr>
          </a:p>
        </p:txBody>
      </p:sp>
      <p:sp>
        <p:nvSpPr>
          <p:cNvPr name="TextBox 24" id="24"/>
          <p:cNvSpPr txBox="true"/>
          <p:nvPr/>
        </p:nvSpPr>
        <p:spPr>
          <a:xfrm rot="0">
            <a:off x="7756210" y="6894943"/>
            <a:ext cx="2559177" cy="913226"/>
          </a:xfrm>
          <a:prstGeom prst="rect">
            <a:avLst/>
          </a:prstGeom>
        </p:spPr>
        <p:txBody>
          <a:bodyPr anchor="t" rtlCol="false" tIns="0" lIns="0" bIns="0" rIns="0">
            <a:spAutoFit/>
          </a:bodyPr>
          <a:lstStyle/>
          <a:p>
            <a:pPr algn="ctr">
              <a:lnSpc>
                <a:spcPts val="2432"/>
              </a:lnSpc>
              <a:spcBef>
                <a:spcPct val="0"/>
              </a:spcBef>
            </a:pPr>
            <a:r>
              <a:rPr lang="en-US" sz="1737">
                <a:solidFill>
                  <a:srgbClr val="000000"/>
                </a:solidFill>
                <a:latin typeface="Poppins"/>
                <a:ea typeface="Poppins"/>
                <a:cs typeface="Poppins"/>
                <a:sym typeface="Poppins"/>
              </a:rPr>
              <a:t>A11.2023.15281</a:t>
            </a:r>
          </a:p>
          <a:p>
            <a:pPr algn="ctr">
              <a:lnSpc>
                <a:spcPts val="2432"/>
              </a:lnSpc>
              <a:spcBef>
                <a:spcPct val="0"/>
              </a:spcBef>
            </a:pPr>
            <a:r>
              <a:rPr lang="en-US" sz="1737">
                <a:solidFill>
                  <a:srgbClr val="000000"/>
                </a:solidFill>
                <a:latin typeface="Poppins"/>
                <a:ea typeface="Poppins"/>
                <a:cs typeface="Poppins"/>
                <a:sym typeface="Poppins"/>
              </a:rPr>
              <a:t>Hezzekia Rafael Miracle</a:t>
            </a:r>
          </a:p>
          <a:p>
            <a:pPr algn="ctr">
              <a:lnSpc>
                <a:spcPts val="2432"/>
              </a:lnSpc>
              <a:spcBef>
                <a:spcPct val="0"/>
              </a:spcBef>
            </a:pPr>
          </a:p>
        </p:txBody>
      </p:sp>
      <p:sp>
        <p:nvSpPr>
          <p:cNvPr name="TextBox 25" id="25"/>
          <p:cNvSpPr txBox="true"/>
          <p:nvPr/>
        </p:nvSpPr>
        <p:spPr>
          <a:xfrm rot="0">
            <a:off x="12559276" y="6869790"/>
            <a:ext cx="2669774" cy="912216"/>
          </a:xfrm>
          <a:prstGeom prst="rect">
            <a:avLst/>
          </a:prstGeom>
        </p:spPr>
        <p:txBody>
          <a:bodyPr anchor="t" rtlCol="false" tIns="0" lIns="0" bIns="0" rIns="0">
            <a:spAutoFit/>
          </a:bodyPr>
          <a:lstStyle/>
          <a:p>
            <a:pPr algn="ctr">
              <a:lnSpc>
                <a:spcPts val="2429"/>
              </a:lnSpc>
              <a:spcBef>
                <a:spcPct val="0"/>
              </a:spcBef>
            </a:pPr>
            <a:r>
              <a:rPr lang="en-US" sz="1735">
                <a:solidFill>
                  <a:srgbClr val="000000"/>
                </a:solidFill>
                <a:latin typeface="Poppins"/>
                <a:ea typeface="Poppins"/>
                <a:cs typeface="Poppins"/>
                <a:sym typeface="Poppins"/>
              </a:rPr>
              <a:t>A11.2023.14975</a:t>
            </a:r>
          </a:p>
          <a:p>
            <a:pPr algn="ctr">
              <a:lnSpc>
                <a:spcPts val="2429"/>
              </a:lnSpc>
              <a:spcBef>
                <a:spcPct val="0"/>
              </a:spcBef>
            </a:pPr>
            <a:r>
              <a:rPr lang="en-US" sz="1735">
                <a:solidFill>
                  <a:srgbClr val="000000"/>
                </a:solidFill>
                <a:latin typeface="Poppins"/>
                <a:ea typeface="Poppins"/>
                <a:cs typeface="Poppins"/>
                <a:sym typeface="Poppins"/>
              </a:rPr>
              <a:t>Sandrina Alfira Deanova</a:t>
            </a:r>
          </a:p>
          <a:p>
            <a:pPr algn="ctr">
              <a:lnSpc>
                <a:spcPts val="2429"/>
              </a:lnSpc>
              <a:spcBef>
                <a:spcPct val="0"/>
              </a:spcBef>
            </a:pP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5521813" y="-3751879"/>
            <a:ext cx="3474974" cy="8467605"/>
            <a:chOff x="0" y="0"/>
            <a:chExt cx="1404192" cy="3421649"/>
          </a:xfrm>
        </p:grpSpPr>
        <p:sp>
          <p:nvSpPr>
            <p:cNvPr name="Freeform 3" id="3"/>
            <p:cNvSpPr/>
            <p:nvPr/>
          </p:nvSpPr>
          <p:spPr>
            <a:xfrm flipH="false" flipV="false" rot="0">
              <a:off x="0" y="0"/>
              <a:ext cx="1404192" cy="3421649"/>
            </a:xfrm>
            <a:custGeom>
              <a:avLst/>
              <a:gdLst/>
              <a:ahLst/>
              <a:cxnLst/>
              <a:rect r="r" b="b" t="t" l="l"/>
              <a:pathLst>
                <a:path h="3421649" w="1404192">
                  <a:moveTo>
                    <a:pt x="222791" y="0"/>
                  </a:moveTo>
                  <a:lnTo>
                    <a:pt x="1181401" y="0"/>
                  </a:lnTo>
                  <a:cubicBezTo>
                    <a:pt x="1240489" y="0"/>
                    <a:pt x="1297156" y="23473"/>
                    <a:pt x="1338938" y="65254"/>
                  </a:cubicBezTo>
                  <a:cubicBezTo>
                    <a:pt x="1380719" y="107035"/>
                    <a:pt x="1404192" y="163703"/>
                    <a:pt x="1404192" y="222791"/>
                  </a:cubicBezTo>
                  <a:lnTo>
                    <a:pt x="1404192" y="3198859"/>
                  </a:lnTo>
                  <a:cubicBezTo>
                    <a:pt x="1404192" y="3321903"/>
                    <a:pt x="1304445" y="3421649"/>
                    <a:pt x="1181401" y="3421649"/>
                  </a:cubicBezTo>
                  <a:lnTo>
                    <a:pt x="222791" y="3421649"/>
                  </a:lnTo>
                  <a:cubicBezTo>
                    <a:pt x="163703" y="3421649"/>
                    <a:pt x="107035" y="3398177"/>
                    <a:pt x="65254" y="3356396"/>
                  </a:cubicBezTo>
                  <a:cubicBezTo>
                    <a:pt x="23473" y="3314614"/>
                    <a:pt x="0" y="3257946"/>
                    <a:pt x="0" y="3198859"/>
                  </a:cubicBezTo>
                  <a:lnTo>
                    <a:pt x="0" y="222791"/>
                  </a:lnTo>
                  <a:cubicBezTo>
                    <a:pt x="0" y="163703"/>
                    <a:pt x="23473" y="107035"/>
                    <a:pt x="65254" y="65254"/>
                  </a:cubicBezTo>
                  <a:cubicBezTo>
                    <a:pt x="107035" y="23473"/>
                    <a:pt x="163703" y="0"/>
                    <a:pt x="222791" y="0"/>
                  </a:cubicBezTo>
                  <a:close/>
                </a:path>
              </a:pathLst>
            </a:custGeom>
            <a:gradFill rotWithShape="true">
              <a:gsLst>
                <a:gs pos="0">
                  <a:srgbClr val="EBE3D5">
                    <a:alpha val="100000"/>
                  </a:srgbClr>
                </a:gs>
                <a:gs pos="50000">
                  <a:srgbClr val="C8BDAA">
                    <a:alpha val="100000"/>
                  </a:srgbClr>
                </a:gs>
                <a:gs pos="100000">
                  <a:srgbClr val="EBE3D5">
                    <a:alpha val="100000"/>
                  </a:srgbClr>
                </a:gs>
              </a:gsLst>
              <a:lin ang="0"/>
            </a:gradFill>
          </p:spPr>
        </p:sp>
        <p:sp>
          <p:nvSpPr>
            <p:cNvPr name="TextBox 4" id="4"/>
            <p:cNvSpPr txBox="true"/>
            <p:nvPr/>
          </p:nvSpPr>
          <p:spPr>
            <a:xfrm>
              <a:off x="0" y="-47625"/>
              <a:ext cx="1404192" cy="3469274"/>
            </a:xfrm>
            <a:prstGeom prst="rect">
              <a:avLst/>
            </a:prstGeom>
          </p:spPr>
          <p:txBody>
            <a:bodyPr anchor="ctr" rtlCol="false" tIns="45054" lIns="45054" bIns="45054" rIns="45054"/>
            <a:lstStyle/>
            <a:p>
              <a:pPr algn="ctr">
                <a:lnSpc>
                  <a:spcPts val="1986"/>
                </a:lnSpc>
              </a:pPr>
            </a:p>
          </p:txBody>
        </p:sp>
      </p:grpSp>
      <p:sp>
        <p:nvSpPr>
          <p:cNvPr name="Freeform 5" id="5"/>
          <p:cNvSpPr/>
          <p:nvPr/>
        </p:nvSpPr>
        <p:spPr>
          <a:xfrm flipH="false" flipV="false" rot="0">
            <a:off x="1028700" y="8928537"/>
            <a:ext cx="4005060" cy="747198"/>
          </a:xfrm>
          <a:custGeom>
            <a:avLst/>
            <a:gdLst/>
            <a:ahLst/>
            <a:cxnLst/>
            <a:rect r="r" b="b" t="t" l="l"/>
            <a:pathLst>
              <a:path h="747198" w="4005060">
                <a:moveTo>
                  <a:pt x="0" y="0"/>
                </a:moveTo>
                <a:lnTo>
                  <a:pt x="4005060" y="0"/>
                </a:lnTo>
                <a:lnTo>
                  <a:pt x="4005060" y="747198"/>
                </a:lnTo>
                <a:lnTo>
                  <a:pt x="0" y="747198"/>
                </a:lnTo>
                <a:lnTo>
                  <a:pt x="0" y="0"/>
                </a:lnTo>
                <a:close/>
              </a:path>
            </a:pathLst>
          </a:custGeom>
          <a:blipFill>
            <a:blip r:embed="rId2"/>
            <a:stretch>
              <a:fillRect l="-4095" t="-10912" r="-4095" b="-1929"/>
            </a:stretch>
          </a:blipFill>
        </p:spPr>
      </p:sp>
      <p:sp>
        <p:nvSpPr>
          <p:cNvPr name="Freeform 6" id="6"/>
          <p:cNvSpPr/>
          <p:nvPr/>
        </p:nvSpPr>
        <p:spPr>
          <a:xfrm flipH="false" flipV="false" rot="0">
            <a:off x="3217122" y="883452"/>
            <a:ext cx="11862661" cy="7664550"/>
          </a:xfrm>
          <a:custGeom>
            <a:avLst/>
            <a:gdLst/>
            <a:ahLst/>
            <a:cxnLst/>
            <a:rect r="r" b="b" t="t" l="l"/>
            <a:pathLst>
              <a:path h="7664550" w="11862661">
                <a:moveTo>
                  <a:pt x="0" y="0"/>
                </a:moveTo>
                <a:lnTo>
                  <a:pt x="11862660" y="0"/>
                </a:lnTo>
                <a:lnTo>
                  <a:pt x="11862660" y="7664550"/>
                </a:lnTo>
                <a:lnTo>
                  <a:pt x="0" y="766455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7" id="7"/>
          <p:cNvSpPr txBox="true"/>
          <p:nvPr/>
        </p:nvSpPr>
        <p:spPr>
          <a:xfrm rot="0">
            <a:off x="3623733" y="3781384"/>
            <a:ext cx="11040535" cy="4884083"/>
          </a:xfrm>
          <a:prstGeom prst="rect">
            <a:avLst/>
          </a:prstGeom>
        </p:spPr>
        <p:txBody>
          <a:bodyPr anchor="t" rtlCol="false" tIns="0" lIns="0" bIns="0" rIns="0">
            <a:spAutoFit/>
          </a:bodyPr>
          <a:lstStyle/>
          <a:p>
            <a:pPr algn="just">
              <a:lnSpc>
                <a:spcPts val="4848"/>
              </a:lnSpc>
              <a:spcBef>
                <a:spcPct val="0"/>
              </a:spcBef>
            </a:pPr>
            <a:r>
              <a:rPr lang="en-US" sz="3463">
                <a:solidFill>
                  <a:srgbClr val="000000"/>
                </a:solidFill>
                <a:latin typeface="Poppins"/>
                <a:ea typeface="Poppins"/>
                <a:cs typeface="Poppins"/>
                <a:sym typeface="Poppins"/>
              </a:rPr>
              <a:t>Auralis diposisikan sebagai lilin aromaterapi ramah lingkungan yang terjangkau, menggabungkan fungsi relaksasi dengan komitmen terhadap keberlanjutan. Dibuat dari minyak jelantah terolah, Auralis menjadi pilihan konsumen yang peduli lingkungan tanpa mengorbankan kualitas dan estetika.</a:t>
            </a:r>
          </a:p>
          <a:p>
            <a:pPr algn="just">
              <a:lnSpc>
                <a:spcPts val="4848"/>
              </a:lnSpc>
              <a:spcBef>
                <a:spcPct val="0"/>
              </a:spcBef>
            </a:pPr>
          </a:p>
        </p:txBody>
      </p:sp>
      <p:sp>
        <p:nvSpPr>
          <p:cNvPr name="TextBox 8" id="8"/>
          <p:cNvSpPr txBox="true"/>
          <p:nvPr/>
        </p:nvSpPr>
        <p:spPr>
          <a:xfrm rot="0">
            <a:off x="3638570" y="1148832"/>
            <a:ext cx="11441212" cy="2464731"/>
          </a:xfrm>
          <a:prstGeom prst="rect">
            <a:avLst/>
          </a:prstGeom>
        </p:spPr>
        <p:txBody>
          <a:bodyPr anchor="t" rtlCol="false" tIns="0" lIns="0" bIns="0" rIns="0">
            <a:spAutoFit/>
          </a:bodyPr>
          <a:lstStyle/>
          <a:p>
            <a:pPr algn="ctr">
              <a:lnSpc>
                <a:spcPts val="9686"/>
              </a:lnSpc>
            </a:pPr>
            <a:r>
              <a:rPr lang="en-US" sz="6919" b="true">
                <a:solidFill>
                  <a:srgbClr val="000000"/>
                </a:solidFill>
                <a:latin typeface="Poppins Bold"/>
                <a:ea typeface="Poppins Bold"/>
                <a:cs typeface="Poppins Bold"/>
                <a:sym typeface="Poppins Bold"/>
              </a:rPr>
              <a:t>M</a:t>
            </a:r>
            <a:r>
              <a:rPr lang="en-US" b="true" sz="6919">
                <a:solidFill>
                  <a:srgbClr val="000000"/>
                </a:solidFill>
                <a:latin typeface="Poppins Bold"/>
                <a:ea typeface="Poppins Bold"/>
                <a:cs typeface="Poppins Bold"/>
                <a:sym typeface="Poppins Bold"/>
              </a:rPr>
              <a:t>arket Position Auralis (Ecoxyztem)</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028700" y="9163919"/>
            <a:ext cx="1007887" cy="2246162"/>
            <a:chOff x="0" y="0"/>
            <a:chExt cx="407274" cy="907645"/>
          </a:xfrm>
        </p:grpSpPr>
        <p:sp>
          <p:nvSpPr>
            <p:cNvPr name="Freeform 3" id="3"/>
            <p:cNvSpPr/>
            <p:nvPr/>
          </p:nvSpPr>
          <p:spPr>
            <a:xfrm flipH="false" flipV="false" rot="0">
              <a:off x="0" y="0"/>
              <a:ext cx="407274" cy="907645"/>
            </a:xfrm>
            <a:custGeom>
              <a:avLst/>
              <a:gdLst/>
              <a:ahLst/>
              <a:cxnLst/>
              <a:rect r="r" b="b" t="t" l="l"/>
              <a:pathLst>
                <a:path h="907645" w="407274">
                  <a:moveTo>
                    <a:pt x="203637" y="0"/>
                  </a:moveTo>
                  <a:lnTo>
                    <a:pt x="203637" y="0"/>
                  </a:lnTo>
                  <a:cubicBezTo>
                    <a:pt x="257645" y="0"/>
                    <a:pt x="309441" y="21455"/>
                    <a:pt x="347630" y="59644"/>
                  </a:cubicBezTo>
                  <a:cubicBezTo>
                    <a:pt x="385820" y="97833"/>
                    <a:pt x="407274" y="149629"/>
                    <a:pt x="407274" y="203637"/>
                  </a:cubicBezTo>
                  <a:lnTo>
                    <a:pt x="407274" y="704008"/>
                  </a:lnTo>
                  <a:cubicBezTo>
                    <a:pt x="407274" y="758016"/>
                    <a:pt x="385820" y="809812"/>
                    <a:pt x="347630" y="848001"/>
                  </a:cubicBezTo>
                  <a:cubicBezTo>
                    <a:pt x="309441" y="886190"/>
                    <a:pt x="257645" y="907645"/>
                    <a:pt x="203637" y="907645"/>
                  </a:cubicBezTo>
                  <a:lnTo>
                    <a:pt x="203637" y="907645"/>
                  </a:lnTo>
                  <a:cubicBezTo>
                    <a:pt x="149629" y="907645"/>
                    <a:pt x="97833" y="886190"/>
                    <a:pt x="59644" y="848001"/>
                  </a:cubicBezTo>
                  <a:cubicBezTo>
                    <a:pt x="21455" y="809812"/>
                    <a:pt x="0" y="758016"/>
                    <a:pt x="0" y="704008"/>
                  </a:cubicBezTo>
                  <a:lnTo>
                    <a:pt x="0" y="203637"/>
                  </a:lnTo>
                  <a:cubicBezTo>
                    <a:pt x="0" y="149629"/>
                    <a:pt x="21455" y="97833"/>
                    <a:pt x="59644" y="59644"/>
                  </a:cubicBezTo>
                  <a:cubicBezTo>
                    <a:pt x="97833" y="21455"/>
                    <a:pt x="149629" y="0"/>
                    <a:pt x="203637" y="0"/>
                  </a:cubicBezTo>
                  <a:close/>
                </a:path>
              </a:pathLst>
            </a:custGeom>
            <a:gradFill rotWithShape="true">
              <a:gsLst>
                <a:gs pos="0">
                  <a:srgbClr val="EBE3D5">
                    <a:alpha val="100000"/>
                  </a:srgbClr>
                </a:gs>
                <a:gs pos="50000">
                  <a:srgbClr val="C8BDAA">
                    <a:alpha val="100000"/>
                  </a:srgbClr>
                </a:gs>
                <a:gs pos="100000">
                  <a:srgbClr val="EBE3D5">
                    <a:alpha val="100000"/>
                  </a:srgbClr>
                </a:gs>
              </a:gsLst>
              <a:lin ang="0"/>
            </a:gradFill>
          </p:spPr>
        </p:sp>
        <p:sp>
          <p:nvSpPr>
            <p:cNvPr name="TextBox 4" id="4"/>
            <p:cNvSpPr txBox="true"/>
            <p:nvPr/>
          </p:nvSpPr>
          <p:spPr>
            <a:xfrm>
              <a:off x="0" y="-47625"/>
              <a:ext cx="407274" cy="955270"/>
            </a:xfrm>
            <a:prstGeom prst="rect">
              <a:avLst/>
            </a:prstGeom>
          </p:spPr>
          <p:txBody>
            <a:bodyPr anchor="ctr" rtlCol="false" tIns="45054" lIns="45054" bIns="45054" rIns="45054"/>
            <a:lstStyle/>
            <a:p>
              <a:pPr algn="ctr">
                <a:lnSpc>
                  <a:spcPts val="1986"/>
                </a:lnSpc>
              </a:pPr>
            </a:p>
          </p:txBody>
        </p:sp>
      </p:grpSp>
      <p:sp>
        <p:nvSpPr>
          <p:cNvPr name="Freeform 5" id="5"/>
          <p:cNvSpPr/>
          <p:nvPr/>
        </p:nvSpPr>
        <p:spPr>
          <a:xfrm flipH="false" flipV="false" rot="0">
            <a:off x="4110886" y="1093668"/>
            <a:ext cx="10359596" cy="7754602"/>
          </a:xfrm>
          <a:custGeom>
            <a:avLst/>
            <a:gdLst/>
            <a:ahLst/>
            <a:cxnLst/>
            <a:rect r="r" b="b" t="t" l="l"/>
            <a:pathLst>
              <a:path h="7754602" w="10359596">
                <a:moveTo>
                  <a:pt x="0" y="0"/>
                </a:moveTo>
                <a:lnTo>
                  <a:pt x="10359597" y="0"/>
                </a:lnTo>
                <a:lnTo>
                  <a:pt x="10359597" y="7754602"/>
                </a:lnTo>
                <a:lnTo>
                  <a:pt x="0" y="7754602"/>
                </a:lnTo>
                <a:lnTo>
                  <a:pt x="0" y="0"/>
                </a:lnTo>
                <a:close/>
              </a:path>
            </a:pathLst>
          </a:custGeom>
          <a:blipFill>
            <a:blip r:embed="rId2"/>
            <a:stretch>
              <a:fillRect l="0" t="0" r="0" b="0"/>
            </a:stretch>
          </a:blipFill>
        </p:spPr>
      </p:sp>
      <p:sp>
        <p:nvSpPr>
          <p:cNvPr name="Freeform 6" id="6"/>
          <p:cNvSpPr/>
          <p:nvPr/>
        </p:nvSpPr>
        <p:spPr>
          <a:xfrm flipH="false" flipV="false" rot="0">
            <a:off x="2284465" y="9354470"/>
            <a:ext cx="3130446" cy="609133"/>
          </a:xfrm>
          <a:custGeom>
            <a:avLst/>
            <a:gdLst/>
            <a:ahLst/>
            <a:cxnLst/>
            <a:rect r="r" b="b" t="t" l="l"/>
            <a:pathLst>
              <a:path h="609133" w="3130446">
                <a:moveTo>
                  <a:pt x="0" y="0"/>
                </a:moveTo>
                <a:lnTo>
                  <a:pt x="3130446" y="0"/>
                </a:lnTo>
                <a:lnTo>
                  <a:pt x="3130446" y="609132"/>
                </a:lnTo>
                <a:lnTo>
                  <a:pt x="0" y="609132"/>
                </a:lnTo>
                <a:lnTo>
                  <a:pt x="0" y="0"/>
                </a:lnTo>
                <a:close/>
              </a:path>
            </a:pathLst>
          </a:custGeom>
          <a:blipFill>
            <a:blip r:embed="rId3"/>
            <a:stretch>
              <a:fillRect l="0" t="0" r="0" b="0"/>
            </a:stretch>
          </a:blipFill>
        </p:spPr>
      </p:sp>
      <p:sp>
        <p:nvSpPr>
          <p:cNvPr name="Freeform 7" id="7"/>
          <p:cNvSpPr/>
          <p:nvPr/>
        </p:nvSpPr>
        <p:spPr>
          <a:xfrm flipH="false" flipV="false" rot="0">
            <a:off x="11520444" y="4349826"/>
            <a:ext cx="258366" cy="258366"/>
          </a:xfrm>
          <a:custGeom>
            <a:avLst/>
            <a:gdLst/>
            <a:ahLst/>
            <a:cxnLst/>
            <a:rect r="r" b="b" t="t" l="l"/>
            <a:pathLst>
              <a:path h="258366" w="258366">
                <a:moveTo>
                  <a:pt x="0" y="0"/>
                </a:moveTo>
                <a:lnTo>
                  <a:pt x="258365" y="0"/>
                </a:lnTo>
                <a:lnTo>
                  <a:pt x="258365" y="258365"/>
                </a:lnTo>
                <a:lnTo>
                  <a:pt x="0" y="25836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0">
            <a:off x="8305771" y="5174158"/>
            <a:ext cx="238810" cy="238810"/>
          </a:xfrm>
          <a:custGeom>
            <a:avLst/>
            <a:gdLst/>
            <a:ahLst/>
            <a:cxnLst/>
            <a:rect r="r" b="b" t="t" l="l"/>
            <a:pathLst>
              <a:path h="238810" w="238810">
                <a:moveTo>
                  <a:pt x="0" y="0"/>
                </a:moveTo>
                <a:lnTo>
                  <a:pt x="238810" y="0"/>
                </a:lnTo>
                <a:lnTo>
                  <a:pt x="238810" y="238810"/>
                </a:lnTo>
                <a:lnTo>
                  <a:pt x="0" y="23881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9" id="9"/>
          <p:cNvSpPr/>
          <p:nvPr/>
        </p:nvSpPr>
        <p:spPr>
          <a:xfrm flipH="false" flipV="false" rot="0">
            <a:off x="12694064" y="3187475"/>
            <a:ext cx="258366" cy="258366"/>
          </a:xfrm>
          <a:custGeom>
            <a:avLst/>
            <a:gdLst/>
            <a:ahLst/>
            <a:cxnLst/>
            <a:rect r="r" b="b" t="t" l="l"/>
            <a:pathLst>
              <a:path h="258366" w="258366">
                <a:moveTo>
                  <a:pt x="0" y="0"/>
                </a:moveTo>
                <a:lnTo>
                  <a:pt x="258365" y="0"/>
                </a:lnTo>
                <a:lnTo>
                  <a:pt x="258365" y="258366"/>
                </a:lnTo>
                <a:lnTo>
                  <a:pt x="0" y="25836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false" rot="0">
            <a:off x="11088776" y="2922638"/>
            <a:ext cx="941995" cy="941995"/>
          </a:xfrm>
          <a:custGeom>
            <a:avLst/>
            <a:gdLst/>
            <a:ahLst/>
            <a:cxnLst/>
            <a:rect r="r" b="b" t="t" l="l"/>
            <a:pathLst>
              <a:path h="941995" w="941995">
                <a:moveTo>
                  <a:pt x="0" y="0"/>
                </a:moveTo>
                <a:lnTo>
                  <a:pt x="941996" y="0"/>
                </a:lnTo>
                <a:lnTo>
                  <a:pt x="941996" y="941995"/>
                </a:lnTo>
                <a:lnTo>
                  <a:pt x="0" y="941995"/>
                </a:lnTo>
                <a:lnTo>
                  <a:pt x="0" y="0"/>
                </a:lnTo>
                <a:close/>
              </a:path>
            </a:pathLst>
          </a:custGeom>
          <a:blipFill>
            <a:blip r:embed="rId6"/>
            <a:stretch>
              <a:fillRect l="0" t="0" r="0" b="0"/>
            </a:stretch>
          </a:blipFill>
        </p:spPr>
      </p:sp>
      <p:sp>
        <p:nvSpPr>
          <p:cNvPr name="Freeform 11" id="11"/>
          <p:cNvSpPr/>
          <p:nvPr/>
        </p:nvSpPr>
        <p:spPr>
          <a:xfrm flipH="false" flipV="false" rot="0">
            <a:off x="12182387" y="1558214"/>
            <a:ext cx="1137652" cy="1137652"/>
          </a:xfrm>
          <a:custGeom>
            <a:avLst/>
            <a:gdLst/>
            <a:ahLst/>
            <a:cxnLst/>
            <a:rect r="r" b="b" t="t" l="l"/>
            <a:pathLst>
              <a:path h="1137652" w="1137652">
                <a:moveTo>
                  <a:pt x="0" y="0"/>
                </a:moveTo>
                <a:lnTo>
                  <a:pt x="1137653" y="0"/>
                </a:lnTo>
                <a:lnTo>
                  <a:pt x="1137653" y="1137653"/>
                </a:lnTo>
                <a:lnTo>
                  <a:pt x="0" y="1137653"/>
                </a:lnTo>
                <a:lnTo>
                  <a:pt x="0" y="0"/>
                </a:lnTo>
                <a:close/>
              </a:path>
            </a:pathLst>
          </a:custGeom>
          <a:blipFill>
            <a:blip r:embed="rId7"/>
            <a:stretch>
              <a:fillRect l="0" t="0" r="0" b="0"/>
            </a:stretch>
          </a:blipFill>
        </p:spPr>
      </p:sp>
      <p:sp>
        <p:nvSpPr>
          <p:cNvPr name="Freeform 12" id="12"/>
          <p:cNvSpPr/>
          <p:nvPr/>
        </p:nvSpPr>
        <p:spPr>
          <a:xfrm flipH="false" flipV="false" rot="0">
            <a:off x="7973691" y="6080086"/>
            <a:ext cx="902970" cy="902970"/>
          </a:xfrm>
          <a:custGeom>
            <a:avLst/>
            <a:gdLst/>
            <a:ahLst/>
            <a:cxnLst/>
            <a:rect r="r" b="b" t="t" l="l"/>
            <a:pathLst>
              <a:path h="902970" w="902970">
                <a:moveTo>
                  <a:pt x="0" y="0"/>
                </a:moveTo>
                <a:lnTo>
                  <a:pt x="902970" y="0"/>
                </a:lnTo>
                <a:lnTo>
                  <a:pt x="902970" y="902970"/>
                </a:lnTo>
                <a:lnTo>
                  <a:pt x="0" y="902970"/>
                </a:lnTo>
                <a:lnTo>
                  <a:pt x="0" y="0"/>
                </a:lnTo>
                <a:close/>
              </a:path>
            </a:pathLst>
          </a:custGeom>
          <a:blipFill>
            <a:blip r:embed="rId8"/>
            <a:stretch>
              <a:fillRect l="0" t="0" r="0" b="0"/>
            </a:stretch>
          </a:blipFill>
        </p:spPr>
      </p:sp>
      <p:sp>
        <p:nvSpPr>
          <p:cNvPr name="TextBox 13" id="13"/>
          <p:cNvSpPr txBox="true"/>
          <p:nvPr/>
        </p:nvSpPr>
        <p:spPr>
          <a:xfrm rot="0">
            <a:off x="1246238" y="9466037"/>
            <a:ext cx="572811" cy="414572"/>
          </a:xfrm>
          <a:prstGeom prst="rect">
            <a:avLst/>
          </a:prstGeom>
        </p:spPr>
        <p:txBody>
          <a:bodyPr anchor="t" rtlCol="false" tIns="0" lIns="0" bIns="0" rIns="0">
            <a:spAutoFit/>
          </a:bodyPr>
          <a:lstStyle/>
          <a:p>
            <a:pPr algn="ctr">
              <a:lnSpc>
                <a:spcPts val="3260"/>
              </a:lnSpc>
            </a:pPr>
            <a:r>
              <a:rPr lang="en-US" sz="2937" spc="328">
                <a:solidFill>
                  <a:srgbClr val="694C2B"/>
                </a:solidFill>
                <a:latin typeface="Open Sans"/>
                <a:ea typeface="Open Sans"/>
                <a:cs typeface="Open Sans"/>
                <a:sym typeface="Open Sans"/>
              </a:rPr>
              <a:t>1</a:t>
            </a:r>
          </a:p>
        </p:txBody>
      </p:sp>
      <p:sp>
        <p:nvSpPr>
          <p:cNvPr name="TextBox 14" id="14"/>
          <p:cNvSpPr txBox="true"/>
          <p:nvPr/>
        </p:nvSpPr>
        <p:spPr>
          <a:xfrm rot="0">
            <a:off x="6305260" y="214040"/>
            <a:ext cx="6647169" cy="651028"/>
          </a:xfrm>
          <a:prstGeom prst="rect">
            <a:avLst/>
          </a:prstGeom>
        </p:spPr>
        <p:txBody>
          <a:bodyPr anchor="t" rtlCol="false" tIns="0" lIns="0" bIns="0" rIns="0">
            <a:spAutoFit/>
          </a:bodyPr>
          <a:lstStyle/>
          <a:p>
            <a:pPr algn="ctr">
              <a:lnSpc>
                <a:spcPts val="5066"/>
              </a:lnSpc>
              <a:spcBef>
                <a:spcPct val="0"/>
              </a:spcBef>
            </a:pPr>
            <a:r>
              <a:rPr lang="en-US" sz="3618">
                <a:solidFill>
                  <a:srgbClr val="694C2B"/>
                </a:solidFill>
                <a:latin typeface="Poppins"/>
                <a:ea typeface="Poppins"/>
                <a:cs typeface="Poppins"/>
                <a:sym typeface="Poppins"/>
              </a:rPr>
              <a:t>Harga Tinggi</a:t>
            </a:r>
          </a:p>
        </p:txBody>
      </p:sp>
      <p:sp>
        <p:nvSpPr>
          <p:cNvPr name="TextBox 15" id="15"/>
          <p:cNvSpPr txBox="true"/>
          <p:nvPr/>
        </p:nvSpPr>
        <p:spPr>
          <a:xfrm rot="0">
            <a:off x="7719423" y="8988587"/>
            <a:ext cx="3318421" cy="651028"/>
          </a:xfrm>
          <a:prstGeom prst="rect">
            <a:avLst/>
          </a:prstGeom>
        </p:spPr>
        <p:txBody>
          <a:bodyPr anchor="t" rtlCol="false" tIns="0" lIns="0" bIns="0" rIns="0">
            <a:spAutoFit/>
          </a:bodyPr>
          <a:lstStyle/>
          <a:p>
            <a:pPr algn="ctr">
              <a:lnSpc>
                <a:spcPts val="5066"/>
              </a:lnSpc>
              <a:spcBef>
                <a:spcPct val="0"/>
              </a:spcBef>
            </a:pPr>
            <a:r>
              <a:rPr lang="en-US" sz="3618">
                <a:solidFill>
                  <a:srgbClr val="694C2B"/>
                </a:solidFill>
                <a:latin typeface="Poppins"/>
                <a:ea typeface="Poppins"/>
                <a:cs typeface="Poppins"/>
                <a:sym typeface="Poppins"/>
              </a:rPr>
              <a:t>Harga Rendah</a:t>
            </a:r>
          </a:p>
        </p:txBody>
      </p:sp>
      <p:sp>
        <p:nvSpPr>
          <p:cNvPr name="TextBox 16" id="16"/>
          <p:cNvSpPr txBox="true"/>
          <p:nvPr/>
        </p:nvSpPr>
        <p:spPr>
          <a:xfrm rot="0">
            <a:off x="14863104" y="4159326"/>
            <a:ext cx="1755725" cy="1289203"/>
          </a:xfrm>
          <a:prstGeom prst="rect">
            <a:avLst/>
          </a:prstGeom>
        </p:spPr>
        <p:txBody>
          <a:bodyPr anchor="t" rtlCol="false" tIns="0" lIns="0" bIns="0" rIns="0">
            <a:spAutoFit/>
          </a:bodyPr>
          <a:lstStyle/>
          <a:p>
            <a:pPr algn="ctr">
              <a:lnSpc>
                <a:spcPts val="5066"/>
              </a:lnSpc>
            </a:pPr>
            <a:r>
              <a:rPr lang="en-US" sz="3618">
                <a:solidFill>
                  <a:srgbClr val="694C2B"/>
                </a:solidFill>
                <a:latin typeface="Poppins"/>
                <a:ea typeface="Poppins"/>
                <a:cs typeface="Poppins"/>
                <a:sym typeface="Poppins"/>
              </a:rPr>
              <a:t>Estetika</a:t>
            </a:r>
          </a:p>
          <a:p>
            <a:pPr algn="ctr">
              <a:lnSpc>
                <a:spcPts val="5066"/>
              </a:lnSpc>
              <a:spcBef>
                <a:spcPct val="0"/>
              </a:spcBef>
            </a:pPr>
            <a:r>
              <a:rPr lang="en-US" sz="3618">
                <a:solidFill>
                  <a:srgbClr val="694C2B"/>
                </a:solidFill>
                <a:latin typeface="Poppins"/>
                <a:ea typeface="Poppins"/>
                <a:cs typeface="Poppins"/>
                <a:sym typeface="Poppins"/>
              </a:rPr>
              <a:t> Tinggi</a:t>
            </a:r>
          </a:p>
        </p:txBody>
      </p:sp>
      <p:sp>
        <p:nvSpPr>
          <p:cNvPr name="TextBox 17" id="17"/>
          <p:cNvSpPr txBox="true"/>
          <p:nvPr/>
        </p:nvSpPr>
        <p:spPr>
          <a:xfrm rot="0">
            <a:off x="1001386" y="4159326"/>
            <a:ext cx="3551634" cy="634518"/>
          </a:xfrm>
          <a:prstGeom prst="rect">
            <a:avLst/>
          </a:prstGeom>
        </p:spPr>
        <p:txBody>
          <a:bodyPr anchor="t" rtlCol="false" tIns="0" lIns="0" bIns="0" rIns="0">
            <a:spAutoFit/>
          </a:bodyPr>
          <a:lstStyle/>
          <a:p>
            <a:pPr algn="ctr">
              <a:lnSpc>
                <a:spcPts val="4926"/>
              </a:lnSpc>
              <a:spcBef>
                <a:spcPct val="0"/>
              </a:spcBef>
            </a:pPr>
            <a:r>
              <a:rPr lang="en-US" sz="3518">
                <a:solidFill>
                  <a:srgbClr val="694C2B"/>
                </a:solidFill>
                <a:latin typeface="Poppins"/>
                <a:ea typeface="Poppins"/>
                <a:cs typeface="Poppins"/>
                <a:sym typeface="Poppins"/>
              </a:rPr>
              <a:t>Estetika Rendah</a:t>
            </a:r>
          </a:p>
        </p:txBody>
      </p:sp>
      <p:sp>
        <p:nvSpPr>
          <p:cNvPr name="TextBox 18" id="18"/>
          <p:cNvSpPr txBox="true"/>
          <p:nvPr/>
        </p:nvSpPr>
        <p:spPr>
          <a:xfrm rot="0">
            <a:off x="1678" y="190134"/>
            <a:ext cx="5414911" cy="651028"/>
          </a:xfrm>
          <a:prstGeom prst="rect">
            <a:avLst/>
          </a:prstGeom>
        </p:spPr>
        <p:txBody>
          <a:bodyPr anchor="t" rtlCol="false" tIns="0" lIns="0" bIns="0" rIns="0">
            <a:spAutoFit/>
          </a:bodyPr>
          <a:lstStyle/>
          <a:p>
            <a:pPr algn="ctr">
              <a:lnSpc>
                <a:spcPts val="5066"/>
              </a:lnSpc>
              <a:spcBef>
                <a:spcPct val="0"/>
              </a:spcBef>
            </a:pPr>
            <a:r>
              <a:rPr lang="en-US" b="true" sz="3618">
                <a:solidFill>
                  <a:srgbClr val="694C2B"/>
                </a:solidFill>
                <a:latin typeface="Poppins Bold"/>
                <a:ea typeface="Poppins Bold"/>
                <a:cs typeface="Poppins Bold"/>
                <a:sym typeface="Poppins Bold"/>
              </a:rPr>
              <a:t>MARKET POSITION</a:t>
            </a:r>
          </a:p>
        </p:txBody>
      </p:sp>
      <p:sp>
        <p:nvSpPr>
          <p:cNvPr name="TextBox 19" id="19"/>
          <p:cNvSpPr txBox="true"/>
          <p:nvPr/>
        </p:nvSpPr>
        <p:spPr>
          <a:xfrm rot="0">
            <a:off x="10838102" y="3905808"/>
            <a:ext cx="1604000" cy="358293"/>
          </a:xfrm>
          <a:prstGeom prst="rect">
            <a:avLst/>
          </a:prstGeom>
        </p:spPr>
        <p:txBody>
          <a:bodyPr anchor="t" rtlCol="false" tIns="0" lIns="0" bIns="0" rIns="0">
            <a:spAutoFit/>
          </a:bodyPr>
          <a:lstStyle/>
          <a:p>
            <a:pPr algn="ctr">
              <a:lnSpc>
                <a:spcPts val="2826"/>
              </a:lnSpc>
              <a:spcBef>
                <a:spcPct val="0"/>
              </a:spcBef>
            </a:pPr>
            <a:r>
              <a:rPr lang="en-US" sz="2018">
                <a:solidFill>
                  <a:srgbClr val="694C2B"/>
                </a:solidFill>
                <a:latin typeface="Poppins"/>
                <a:ea typeface="Poppins"/>
                <a:cs typeface="Poppins"/>
                <a:sym typeface="Poppins"/>
              </a:rPr>
              <a:t>ECOXYZTEM</a:t>
            </a:r>
          </a:p>
        </p:txBody>
      </p:sp>
      <p:sp>
        <p:nvSpPr>
          <p:cNvPr name="TextBox 20" id="20"/>
          <p:cNvSpPr txBox="true"/>
          <p:nvPr/>
        </p:nvSpPr>
        <p:spPr>
          <a:xfrm rot="0">
            <a:off x="12021247" y="2695867"/>
            <a:ext cx="1604000" cy="358293"/>
          </a:xfrm>
          <a:prstGeom prst="rect">
            <a:avLst/>
          </a:prstGeom>
        </p:spPr>
        <p:txBody>
          <a:bodyPr anchor="t" rtlCol="false" tIns="0" lIns="0" bIns="0" rIns="0">
            <a:spAutoFit/>
          </a:bodyPr>
          <a:lstStyle/>
          <a:p>
            <a:pPr algn="ctr">
              <a:lnSpc>
                <a:spcPts val="2826"/>
              </a:lnSpc>
              <a:spcBef>
                <a:spcPct val="0"/>
              </a:spcBef>
            </a:pPr>
            <a:r>
              <a:rPr lang="en-US" sz="2018">
                <a:solidFill>
                  <a:srgbClr val="694C2B"/>
                </a:solidFill>
                <a:latin typeface="Poppins"/>
                <a:ea typeface="Poppins"/>
                <a:cs typeface="Poppins"/>
                <a:sym typeface="Poppins"/>
              </a:rPr>
              <a:t>Natureline</a:t>
            </a:r>
          </a:p>
        </p:txBody>
      </p:sp>
      <p:sp>
        <p:nvSpPr>
          <p:cNvPr name="TextBox 21" id="21"/>
          <p:cNvSpPr txBox="true"/>
          <p:nvPr/>
        </p:nvSpPr>
        <p:spPr>
          <a:xfrm rot="0">
            <a:off x="7623176" y="5540818"/>
            <a:ext cx="1604000" cy="358293"/>
          </a:xfrm>
          <a:prstGeom prst="rect">
            <a:avLst/>
          </a:prstGeom>
        </p:spPr>
        <p:txBody>
          <a:bodyPr anchor="t" rtlCol="false" tIns="0" lIns="0" bIns="0" rIns="0">
            <a:spAutoFit/>
          </a:bodyPr>
          <a:lstStyle/>
          <a:p>
            <a:pPr algn="ctr">
              <a:lnSpc>
                <a:spcPts val="2826"/>
              </a:lnSpc>
              <a:spcBef>
                <a:spcPct val="0"/>
              </a:spcBef>
            </a:pPr>
            <a:r>
              <a:rPr lang="en-US" sz="2018">
                <a:solidFill>
                  <a:srgbClr val="694C2B"/>
                </a:solidFill>
                <a:latin typeface="Poppins"/>
                <a:ea typeface="Poppins"/>
                <a:cs typeface="Poppins"/>
                <a:sym typeface="Poppins"/>
              </a:rPr>
              <a:t>Violeta Craft</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028700" y="9163919"/>
            <a:ext cx="1007887" cy="2246162"/>
            <a:chOff x="0" y="0"/>
            <a:chExt cx="407274" cy="907645"/>
          </a:xfrm>
        </p:grpSpPr>
        <p:sp>
          <p:nvSpPr>
            <p:cNvPr name="Freeform 3" id="3"/>
            <p:cNvSpPr/>
            <p:nvPr/>
          </p:nvSpPr>
          <p:spPr>
            <a:xfrm flipH="false" flipV="false" rot="0">
              <a:off x="0" y="0"/>
              <a:ext cx="407274" cy="907645"/>
            </a:xfrm>
            <a:custGeom>
              <a:avLst/>
              <a:gdLst/>
              <a:ahLst/>
              <a:cxnLst/>
              <a:rect r="r" b="b" t="t" l="l"/>
              <a:pathLst>
                <a:path h="907645" w="407274">
                  <a:moveTo>
                    <a:pt x="203637" y="0"/>
                  </a:moveTo>
                  <a:lnTo>
                    <a:pt x="203637" y="0"/>
                  </a:lnTo>
                  <a:cubicBezTo>
                    <a:pt x="257645" y="0"/>
                    <a:pt x="309441" y="21455"/>
                    <a:pt x="347630" y="59644"/>
                  </a:cubicBezTo>
                  <a:cubicBezTo>
                    <a:pt x="385820" y="97833"/>
                    <a:pt x="407274" y="149629"/>
                    <a:pt x="407274" y="203637"/>
                  </a:cubicBezTo>
                  <a:lnTo>
                    <a:pt x="407274" y="704008"/>
                  </a:lnTo>
                  <a:cubicBezTo>
                    <a:pt x="407274" y="758016"/>
                    <a:pt x="385820" y="809812"/>
                    <a:pt x="347630" y="848001"/>
                  </a:cubicBezTo>
                  <a:cubicBezTo>
                    <a:pt x="309441" y="886190"/>
                    <a:pt x="257645" y="907645"/>
                    <a:pt x="203637" y="907645"/>
                  </a:cubicBezTo>
                  <a:lnTo>
                    <a:pt x="203637" y="907645"/>
                  </a:lnTo>
                  <a:cubicBezTo>
                    <a:pt x="149629" y="907645"/>
                    <a:pt x="97833" y="886190"/>
                    <a:pt x="59644" y="848001"/>
                  </a:cubicBezTo>
                  <a:cubicBezTo>
                    <a:pt x="21455" y="809812"/>
                    <a:pt x="0" y="758016"/>
                    <a:pt x="0" y="704008"/>
                  </a:cubicBezTo>
                  <a:lnTo>
                    <a:pt x="0" y="203637"/>
                  </a:lnTo>
                  <a:cubicBezTo>
                    <a:pt x="0" y="149629"/>
                    <a:pt x="21455" y="97833"/>
                    <a:pt x="59644" y="59644"/>
                  </a:cubicBezTo>
                  <a:cubicBezTo>
                    <a:pt x="97833" y="21455"/>
                    <a:pt x="149629" y="0"/>
                    <a:pt x="203637" y="0"/>
                  </a:cubicBezTo>
                  <a:close/>
                </a:path>
              </a:pathLst>
            </a:custGeom>
            <a:gradFill rotWithShape="true">
              <a:gsLst>
                <a:gs pos="0">
                  <a:srgbClr val="EBE3D5">
                    <a:alpha val="100000"/>
                  </a:srgbClr>
                </a:gs>
                <a:gs pos="50000">
                  <a:srgbClr val="C8BDAA">
                    <a:alpha val="100000"/>
                  </a:srgbClr>
                </a:gs>
                <a:gs pos="100000">
                  <a:srgbClr val="EBE3D5">
                    <a:alpha val="100000"/>
                  </a:srgbClr>
                </a:gs>
              </a:gsLst>
              <a:lin ang="0"/>
            </a:gradFill>
          </p:spPr>
        </p:sp>
        <p:sp>
          <p:nvSpPr>
            <p:cNvPr name="TextBox 4" id="4"/>
            <p:cNvSpPr txBox="true"/>
            <p:nvPr/>
          </p:nvSpPr>
          <p:spPr>
            <a:xfrm>
              <a:off x="0" y="-47625"/>
              <a:ext cx="407274" cy="955270"/>
            </a:xfrm>
            <a:prstGeom prst="rect">
              <a:avLst/>
            </a:prstGeom>
          </p:spPr>
          <p:txBody>
            <a:bodyPr anchor="ctr" rtlCol="false" tIns="45054" lIns="45054" bIns="45054" rIns="45054"/>
            <a:lstStyle/>
            <a:p>
              <a:pPr algn="ctr">
                <a:lnSpc>
                  <a:spcPts val="1986"/>
                </a:lnSpc>
              </a:pPr>
            </a:p>
          </p:txBody>
        </p:sp>
      </p:grpSp>
      <p:grpSp>
        <p:nvGrpSpPr>
          <p:cNvPr name="Group 5" id="5"/>
          <p:cNvGrpSpPr/>
          <p:nvPr/>
        </p:nvGrpSpPr>
        <p:grpSpPr>
          <a:xfrm rot="0">
            <a:off x="635383" y="1937602"/>
            <a:ext cx="10581129" cy="6332179"/>
            <a:chOff x="0" y="0"/>
            <a:chExt cx="2786799" cy="1667734"/>
          </a:xfrm>
        </p:grpSpPr>
        <p:sp>
          <p:nvSpPr>
            <p:cNvPr name="Freeform 6" id="6"/>
            <p:cNvSpPr/>
            <p:nvPr/>
          </p:nvSpPr>
          <p:spPr>
            <a:xfrm flipH="false" flipV="false" rot="0">
              <a:off x="0" y="0"/>
              <a:ext cx="2786799" cy="1667734"/>
            </a:xfrm>
            <a:custGeom>
              <a:avLst/>
              <a:gdLst/>
              <a:ahLst/>
              <a:cxnLst/>
              <a:rect r="r" b="b" t="t" l="l"/>
              <a:pathLst>
                <a:path h="1667734" w="2786799">
                  <a:moveTo>
                    <a:pt x="0" y="0"/>
                  </a:moveTo>
                  <a:lnTo>
                    <a:pt x="2786799" y="0"/>
                  </a:lnTo>
                  <a:lnTo>
                    <a:pt x="2786799" y="1667734"/>
                  </a:lnTo>
                  <a:lnTo>
                    <a:pt x="0" y="1667734"/>
                  </a:lnTo>
                  <a:close/>
                </a:path>
              </a:pathLst>
            </a:custGeom>
            <a:solidFill>
              <a:srgbClr val="B0A695"/>
            </a:solidFill>
          </p:spPr>
        </p:sp>
        <p:sp>
          <p:nvSpPr>
            <p:cNvPr name="TextBox 7" id="7"/>
            <p:cNvSpPr txBox="true"/>
            <p:nvPr/>
          </p:nvSpPr>
          <p:spPr>
            <a:xfrm>
              <a:off x="0" y="-47625"/>
              <a:ext cx="2786799" cy="1715359"/>
            </a:xfrm>
            <a:prstGeom prst="rect">
              <a:avLst/>
            </a:prstGeom>
          </p:spPr>
          <p:txBody>
            <a:bodyPr anchor="ctr" rtlCol="false" tIns="50800" lIns="50800" bIns="50800" rIns="50800"/>
            <a:lstStyle/>
            <a:p>
              <a:pPr algn="ctr">
                <a:lnSpc>
                  <a:spcPts val="1986"/>
                </a:lnSpc>
              </a:pPr>
            </a:p>
          </p:txBody>
        </p:sp>
      </p:grpSp>
      <p:sp>
        <p:nvSpPr>
          <p:cNvPr name="Freeform 8" id="8"/>
          <p:cNvSpPr/>
          <p:nvPr/>
        </p:nvSpPr>
        <p:spPr>
          <a:xfrm flipH="false" flipV="false" rot="0">
            <a:off x="2284465" y="9354470"/>
            <a:ext cx="3130446" cy="609133"/>
          </a:xfrm>
          <a:custGeom>
            <a:avLst/>
            <a:gdLst/>
            <a:ahLst/>
            <a:cxnLst/>
            <a:rect r="r" b="b" t="t" l="l"/>
            <a:pathLst>
              <a:path h="609133" w="3130446">
                <a:moveTo>
                  <a:pt x="0" y="0"/>
                </a:moveTo>
                <a:lnTo>
                  <a:pt x="3130446" y="0"/>
                </a:lnTo>
                <a:lnTo>
                  <a:pt x="3130446" y="609132"/>
                </a:lnTo>
                <a:lnTo>
                  <a:pt x="0" y="609132"/>
                </a:lnTo>
                <a:lnTo>
                  <a:pt x="0" y="0"/>
                </a:lnTo>
                <a:close/>
              </a:path>
            </a:pathLst>
          </a:custGeom>
          <a:blipFill>
            <a:blip r:embed="rId2"/>
            <a:stretch>
              <a:fillRect l="0" t="0" r="0" b="0"/>
            </a:stretch>
          </a:blipFill>
        </p:spPr>
      </p:sp>
      <p:sp>
        <p:nvSpPr>
          <p:cNvPr name="Freeform 9" id="9"/>
          <p:cNvSpPr/>
          <p:nvPr/>
        </p:nvSpPr>
        <p:spPr>
          <a:xfrm flipH="false" flipV="false" rot="0">
            <a:off x="13290027" y="1264097"/>
            <a:ext cx="2798955" cy="2705656"/>
          </a:xfrm>
          <a:custGeom>
            <a:avLst/>
            <a:gdLst/>
            <a:ahLst/>
            <a:cxnLst/>
            <a:rect r="r" b="b" t="t" l="l"/>
            <a:pathLst>
              <a:path h="2705656" w="2798955">
                <a:moveTo>
                  <a:pt x="0" y="0"/>
                </a:moveTo>
                <a:lnTo>
                  <a:pt x="2798955" y="0"/>
                </a:lnTo>
                <a:lnTo>
                  <a:pt x="2798955" y="2705656"/>
                </a:lnTo>
                <a:lnTo>
                  <a:pt x="0" y="2705656"/>
                </a:lnTo>
                <a:lnTo>
                  <a:pt x="0" y="0"/>
                </a:lnTo>
                <a:close/>
              </a:path>
            </a:pathLst>
          </a:custGeom>
          <a:blipFill>
            <a:blip r:embed="rId3"/>
            <a:stretch>
              <a:fillRect l="0" t="0" r="0" b="0"/>
            </a:stretch>
          </a:blipFill>
        </p:spPr>
      </p:sp>
      <p:sp>
        <p:nvSpPr>
          <p:cNvPr name="Freeform 10" id="10"/>
          <p:cNvSpPr/>
          <p:nvPr/>
        </p:nvSpPr>
        <p:spPr>
          <a:xfrm flipH="false" flipV="false" rot="0">
            <a:off x="13087763" y="4230583"/>
            <a:ext cx="3203482" cy="3203482"/>
          </a:xfrm>
          <a:custGeom>
            <a:avLst/>
            <a:gdLst/>
            <a:ahLst/>
            <a:cxnLst/>
            <a:rect r="r" b="b" t="t" l="l"/>
            <a:pathLst>
              <a:path h="3203482" w="3203482">
                <a:moveTo>
                  <a:pt x="0" y="0"/>
                </a:moveTo>
                <a:lnTo>
                  <a:pt x="3203482" y="0"/>
                </a:lnTo>
                <a:lnTo>
                  <a:pt x="3203482" y="3203482"/>
                </a:lnTo>
                <a:lnTo>
                  <a:pt x="0" y="3203482"/>
                </a:lnTo>
                <a:lnTo>
                  <a:pt x="0" y="0"/>
                </a:lnTo>
                <a:close/>
              </a:path>
            </a:pathLst>
          </a:custGeom>
          <a:blipFill>
            <a:blip r:embed="rId4"/>
            <a:stretch>
              <a:fillRect l="0" t="0" r="0" b="0"/>
            </a:stretch>
          </a:blipFill>
        </p:spPr>
      </p:sp>
      <p:sp>
        <p:nvSpPr>
          <p:cNvPr name="Freeform 11" id="11"/>
          <p:cNvSpPr/>
          <p:nvPr/>
        </p:nvSpPr>
        <p:spPr>
          <a:xfrm flipH="false" flipV="false" rot="0">
            <a:off x="12862068" y="7732536"/>
            <a:ext cx="3654872" cy="1704926"/>
          </a:xfrm>
          <a:custGeom>
            <a:avLst/>
            <a:gdLst/>
            <a:ahLst/>
            <a:cxnLst/>
            <a:rect r="r" b="b" t="t" l="l"/>
            <a:pathLst>
              <a:path h="1704926" w="3654872">
                <a:moveTo>
                  <a:pt x="0" y="0"/>
                </a:moveTo>
                <a:lnTo>
                  <a:pt x="3654872" y="0"/>
                </a:lnTo>
                <a:lnTo>
                  <a:pt x="3654872" y="1704926"/>
                </a:lnTo>
                <a:lnTo>
                  <a:pt x="0" y="1704926"/>
                </a:lnTo>
                <a:lnTo>
                  <a:pt x="0" y="0"/>
                </a:lnTo>
                <a:close/>
              </a:path>
            </a:pathLst>
          </a:custGeom>
          <a:blipFill>
            <a:blip r:embed="rId5"/>
            <a:stretch>
              <a:fillRect l="0" t="0" r="0" b="0"/>
            </a:stretch>
          </a:blipFill>
        </p:spPr>
      </p:sp>
      <p:sp>
        <p:nvSpPr>
          <p:cNvPr name="TextBox 12" id="12"/>
          <p:cNvSpPr txBox="true"/>
          <p:nvPr/>
        </p:nvSpPr>
        <p:spPr>
          <a:xfrm rot="0">
            <a:off x="1246238" y="9466037"/>
            <a:ext cx="572811" cy="414572"/>
          </a:xfrm>
          <a:prstGeom prst="rect">
            <a:avLst/>
          </a:prstGeom>
        </p:spPr>
        <p:txBody>
          <a:bodyPr anchor="t" rtlCol="false" tIns="0" lIns="0" bIns="0" rIns="0">
            <a:spAutoFit/>
          </a:bodyPr>
          <a:lstStyle/>
          <a:p>
            <a:pPr algn="ctr">
              <a:lnSpc>
                <a:spcPts val="3260"/>
              </a:lnSpc>
            </a:pPr>
            <a:r>
              <a:rPr lang="en-US" sz="2937" spc="328">
                <a:solidFill>
                  <a:srgbClr val="694C2B"/>
                </a:solidFill>
                <a:latin typeface="Open Sans"/>
                <a:ea typeface="Open Sans"/>
                <a:cs typeface="Open Sans"/>
                <a:sym typeface="Open Sans"/>
              </a:rPr>
              <a:t>2</a:t>
            </a:r>
          </a:p>
        </p:txBody>
      </p:sp>
      <p:sp>
        <p:nvSpPr>
          <p:cNvPr name="TextBox 13" id="13"/>
          <p:cNvSpPr txBox="true"/>
          <p:nvPr/>
        </p:nvSpPr>
        <p:spPr>
          <a:xfrm rot="0">
            <a:off x="920729" y="3421576"/>
            <a:ext cx="9394878" cy="1682115"/>
          </a:xfrm>
          <a:prstGeom prst="rect">
            <a:avLst/>
          </a:prstGeom>
        </p:spPr>
        <p:txBody>
          <a:bodyPr anchor="t" rtlCol="false" tIns="0" lIns="0" bIns="0" rIns="0">
            <a:spAutoFit/>
          </a:bodyPr>
          <a:lstStyle/>
          <a:p>
            <a:pPr algn="l">
              <a:lnSpc>
                <a:spcPts val="3359"/>
              </a:lnSpc>
              <a:spcBef>
                <a:spcPct val="0"/>
              </a:spcBef>
            </a:pPr>
            <a:r>
              <a:rPr lang="en-US" sz="2400">
                <a:solidFill>
                  <a:srgbClr val="FFFFFF"/>
                </a:solidFill>
                <a:latin typeface="Poppins"/>
                <a:ea typeface="Poppins"/>
                <a:cs typeface="Poppins"/>
                <a:sym typeface="Poppins"/>
              </a:rPr>
              <a:t>Bahan Daur Ulang Ramah Lingkungan dengan m</a:t>
            </a:r>
            <a:r>
              <a:rPr lang="en-US" sz="2400">
                <a:solidFill>
                  <a:srgbClr val="FFFFFF"/>
                </a:solidFill>
                <a:latin typeface="Poppins"/>
                <a:ea typeface="Poppins"/>
                <a:cs typeface="Poppins"/>
                <a:sym typeface="Poppins"/>
              </a:rPr>
              <a:t>enggunakan minyak jelantah yang telah melalui proses penyaringan dan pemurnian sehingga aman dan layak digunakan sebagai lilin aromaterapi.</a:t>
            </a:r>
          </a:p>
        </p:txBody>
      </p:sp>
      <p:sp>
        <p:nvSpPr>
          <p:cNvPr name="TextBox 14" id="14"/>
          <p:cNvSpPr txBox="true"/>
          <p:nvPr/>
        </p:nvSpPr>
        <p:spPr>
          <a:xfrm rot="0">
            <a:off x="920729" y="2293316"/>
            <a:ext cx="5857918" cy="551967"/>
          </a:xfrm>
          <a:prstGeom prst="rect">
            <a:avLst/>
          </a:prstGeom>
        </p:spPr>
        <p:txBody>
          <a:bodyPr anchor="t" rtlCol="false" tIns="0" lIns="0" bIns="0" rIns="0">
            <a:spAutoFit/>
          </a:bodyPr>
          <a:lstStyle/>
          <a:p>
            <a:pPr algn="l">
              <a:lnSpc>
                <a:spcPts val="4226"/>
              </a:lnSpc>
              <a:spcBef>
                <a:spcPct val="0"/>
              </a:spcBef>
            </a:pPr>
            <a:r>
              <a:rPr lang="en-US" sz="3018">
                <a:solidFill>
                  <a:srgbClr val="000000"/>
                </a:solidFill>
                <a:latin typeface="Poppins"/>
                <a:ea typeface="Poppins"/>
                <a:cs typeface="Poppins"/>
                <a:sym typeface="Poppins"/>
              </a:rPr>
              <a:t>Penekanan :</a:t>
            </a:r>
          </a:p>
        </p:txBody>
      </p:sp>
      <p:sp>
        <p:nvSpPr>
          <p:cNvPr name="TextBox 15" id="15"/>
          <p:cNvSpPr txBox="true"/>
          <p:nvPr/>
        </p:nvSpPr>
        <p:spPr>
          <a:xfrm rot="0">
            <a:off x="845034" y="5765649"/>
            <a:ext cx="9546269" cy="2193925"/>
          </a:xfrm>
          <a:prstGeom prst="rect">
            <a:avLst/>
          </a:prstGeom>
        </p:spPr>
        <p:txBody>
          <a:bodyPr anchor="t" rtlCol="false" tIns="0" lIns="0" bIns="0" rIns="0">
            <a:spAutoFit/>
          </a:bodyPr>
          <a:lstStyle/>
          <a:p>
            <a:pPr algn="l">
              <a:lnSpc>
                <a:spcPts val="3499"/>
              </a:lnSpc>
              <a:spcBef>
                <a:spcPct val="0"/>
              </a:spcBef>
            </a:pPr>
            <a:r>
              <a:rPr lang="en-US" sz="2499">
                <a:solidFill>
                  <a:srgbClr val="FFFFFF"/>
                </a:solidFill>
                <a:latin typeface="Poppins"/>
                <a:ea typeface="Poppins"/>
                <a:cs typeface="Poppins"/>
                <a:sym typeface="Poppins"/>
              </a:rPr>
              <a:t>Auralis sangat cocok untuk konsumen yang peduli lingkungan dan k</a:t>
            </a:r>
            <a:r>
              <a:rPr lang="en-US" sz="2499">
                <a:solidFill>
                  <a:srgbClr val="FFFFFF"/>
                </a:solidFill>
                <a:latin typeface="Poppins"/>
                <a:ea typeface="Poppins"/>
                <a:cs typeface="Poppins"/>
                <a:sym typeface="Poppins"/>
              </a:rPr>
              <a:t>esehatan mental yang mencari produk aromaterapi fungsional, terjangkau, dan selaras dengan nilai keberlanjutan serta preferensi produk ramah lingkungan.</a:t>
            </a:r>
          </a:p>
        </p:txBody>
      </p:sp>
      <p:sp>
        <p:nvSpPr>
          <p:cNvPr name="TextBox 16" id="16"/>
          <p:cNvSpPr txBox="true"/>
          <p:nvPr/>
        </p:nvSpPr>
        <p:spPr>
          <a:xfrm rot="0">
            <a:off x="1678" y="190134"/>
            <a:ext cx="5414911" cy="651028"/>
          </a:xfrm>
          <a:prstGeom prst="rect">
            <a:avLst/>
          </a:prstGeom>
        </p:spPr>
        <p:txBody>
          <a:bodyPr anchor="t" rtlCol="false" tIns="0" lIns="0" bIns="0" rIns="0">
            <a:spAutoFit/>
          </a:bodyPr>
          <a:lstStyle/>
          <a:p>
            <a:pPr algn="ctr">
              <a:lnSpc>
                <a:spcPts val="5066"/>
              </a:lnSpc>
              <a:spcBef>
                <a:spcPct val="0"/>
              </a:spcBef>
            </a:pPr>
            <a:r>
              <a:rPr lang="en-US" b="true" sz="3618">
                <a:solidFill>
                  <a:srgbClr val="694C2B"/>
                </a:solidFill>
                <a:latin typeface="Poppins Bold"/>
                <a:ea typeface="Poppins Bold"/>
                <a:cs typeface="Poppins Bold"/>
                <a:sym typeface="Poppins Bold"/>
              </a:rPr>
              <a:t>MARKET POSITION</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28700" y="8884701"/>
            <a:ext cx="4005060" cy="747198"/>
          </a:xfrm>
          <a:custGeom>
            <a:avLst/>
            <a:gdLst/>
            <a:ahLst/>
            <a:cxnLst/>
            <a:rect r="r" b="b" t="t" l="l"/>
            <a:pathLst>
              <a:path h="747198" w="4005060">
                <a:moveTo>
                  <a:pt x="0" y="0"/>
                </a:moveTo>
                <a:lnTo>
                  <a:pt x="4005060" y="0"/>
                </a:lnTo>
                <a:lnTo>
                  <a:pt x="4005060" y="747198"/>
                </a:lnTo>
                <a:lnTo>
                  <a:pt x="0" y="747198"/>
                </a:lnTo>
                <a:lnTo>
                  <a:pt x="0" y="0"/>
                </a:lnTo>
                <a:close/>
              </a:path>
            </a:pathLst>
          </a:custGeom>
          <a:blipFill>
            <a:blip r:embed="rId2"/>
            <a:stretch>
              <a:fillRect l="-4095" t="-10912" r="-4095" b="-1929"/>
            </a:stretch>
          </a:blipFill>
        </p:spPr>
      </p:sp>
      <p:sp>
        <p:nvSpPr>
          <p:cNvPr name="Freeform 3" id="3"/>
          <p:cNvSpPr/>
          <p:nvPr/>
        </p:nvSpPr>
        <p:spPr>
          <a:xfrm flipH="false" flipV="false" rot="-3612713">
            <a:off x="-2548658" y="-2150159"/>
            <a:ext cx="8289084" cy="7023115"/>
          </a:xfrm>
          <a:custGeom>
            <a:avLst/>
            <a:gdLst/>
            <a:ahLst/>
            <a:cxnLst/>
            <a:rect r="r" b="b" t="t" l="l"/>
            <a:pathLst>
              <a:path h="7023115" w="8289084">
                <a:moveTo>
                  <a:pt x="0" y="0"/>
                </a:moveTo>
                <a:lnTo>
                  <a:pt x="8289084" y="0"/>
                </a:lnTo>
                <a:lnTo>
                  <a:pt x="8289084" y="7023115"/>
                </a:lnTo>
                <a:lnTo>
                  <a:pt x="0" y="7023115"/>
                </a:lnTo>
                <a:lnTo>
                  <a:pt x="0" y="0"/>
                </a:lnTo>
                <a:close/>
              </a:path>
            </a:pathLst>
          </a:custGeom>
          <a:blipFill>
            <a:blip r:embed="rId3">
              <a:alphaModFix amt="96000"/>
              <a:extLst>
                <a:ext uri="{96DAC541-7B7A-43D3-8B79-37D633B846F1}">
                  <asvg:svgBlip xmlns:asvg="http://schemas.microsoft.com/office/drawing/2016/SVG/main" r:embed="rId4"/>
                </a:ext>
              </a:extLst>
            </a:blip>
            <a:stretch>
              <a:fillRect l="0" t="0" r="0" b="0"/>
            </a:stretch>
          </a:blipFill>
        </p:spPr>
      </p:sp>
      <p:sp>
        <p:nvSpPr>
          <p:cNvPr name="TextBox 4" id="4"/>
          <p:cNvSpPr txBox="true"/>
          <p:nvPr/>
        </p:nvSpPr>
        <p:spPr>
          <a:xfrm rot="0">
            <a:off x="3415878" y="3837962"/>
            <a:ext cx="12140525" cy="4686596"/>
          </a:xfrm>
          <a:prstGeom prst="rect">
            <a:avLst/>
          </a:prstGeom>
        </p:spPr>
        <p:txBody>
          <a:bodyPr anchor="t" rtlCol="false" tIns="0" lIns="0" bIns="0" rIns="0">
            <a:spAutoFit/>
          </a:bodyPr>
          <a:lstStyle/>
          <a:p>
            <a:pPr algn="just">
              <a:lnSpc>
                <a:spcPts val="5548"/>
              </a:lnSpc>
            </a:pPr>
            <a:r>
              <a:rPr lang="en-US" sz="3963">
                <a:solidFill>
                  <a:srgbClr val="000000"/>
                </a:solidFill>
                <a:latin typeface="Poppins"/>
                <a:ea typeface="Poppins"/>
                <a:cs typeface="Poppins"/>
                <a:sym typeface="Poppins"/>
              </a:rPr>
              <a:t>Br</a:t>
            </a:r>
            <a:r>
              <a:rPr lang="en-US" sz="3963">
                <a:solidFill>
                  <a:srgbClr val="000000"/>
                </a:solidFill>
                <a:latin typeface="Poppins"/>
                <a:ea typeface="Poppins"/>
                <a:cs typeface="Poppins"/>
                <a:sym typeface="Poppins"/>
              </a:rPr>
              <a:t>and Berbasis Nilai (Value-Driven Brand)</a:t>
            </a:r>
          </a:p>
          <a:p>
            <a:pPr algn="just">
              <a:lnSpc>
                <a:spcPts val="5548"/>
              </a:lnSpc>
              <a:spcBef>
                <a:spcPct val="0"/>
              </a:spcBef>
            </a:pPr>
            <a:r>
              <a:rPr lang="en-US" sz="3963">
                <a:solidFill>
                  <a:srgbClr val="000000"/>
                </a:solidFill>
                <a:latin typeface="Poppins"/>
                <a:ea typeface="Poppins"/>
                <a:cs typeface="Poppins"/>
                <a:sym typeface="Poppins"/>
              </a:rPr>
              <a:t>Ecoxyzt</a:t>
            </a:r>
            <a:r>
              <a:rPr lang="en-US" sz="3963">
                <a:solidFill>
                  <a:srgbClr val="000000"/>
                </a:solidFill>
                <a:latin typeface="Poppins"/>
                <a:ea typeface="Poppins"/>
                <a:cs typeface="Poppins"/>
                <a:sym typeface="Poppins"/>
              </a:rPr>
              <a:t>em dibangun sebagai brand yang mengusung keberlanjutan dan dampak lingkungan nyata, bukan sekadar menjual produk. Nilai ini menciptakan ikatan emosional dengan konsumen sadar lingkungan.</a:t>
            </a:r>
          </a:p>
          <a:p>
            <a:pPr algn="just">
              <a:lnSpc>
                <a:spcPts val="3868"/>
              </a:lnSpc>
              <a:spcBef>
                <a:spcPct val="0"/>
              </a:spcBef>
            </a:pPr>
          </a:p>
        </p:txBody>
      </p:sp>
      <p:grpSp>
        <p:nvGrpSpPr>
          <p:cNvPr name="Group 5" id="5"/>
          <p:cNvGrpSpPr/>
          <p:nvPr/>
        </p:nvGrpSpPr>
        <p:grpSpPr>
          <a:xfrm rot="0">
            <a:off x="14813026" y="-4875487"/>
            <a:ext cx="3474974" cy="8467605"/>
            <a:chOff x="0" y="0"/>
            <a:chExt cx="1404192" cy="3421649"/>
          </a:xfrm>
        </p:grpSpPr>
        <p:sp>
          <p:nvSpPr>
            <p:cNvPr name="Freeform 6" id="6"/>
            <p:cNvSpPr/>
            <p:nvPr/>
          </p:nvSpPr>
          <p:spPr>
            <a:xfrm flipH="false" flipV="false" rot="0">
              <a:off x="0" y="0"/>
              <a:ext cx="1404192" cy="3421649"/>
            </a:xfrm>
            <a:custGeom>
              <a:avLst/>
              <a:gdLst/>
              <a:ahLst/>
              <a:cxnLst/>
              <a:rect r="r" b="b" t="t" l="l"/>
              <a:pathLst>
                <a:path h="3421649" w="1404192">
                  <a:moveTo>
                    <a:pt x="222791" y="0"/>
                  </a:moveTo>
                  <a:lnTo>
                    <a:pt x="1181401" y="0"/>
                  </a:lnTo>
                  <a:cubicBezTo>
                    <a:pt x="1240489" y="0"/>
                    <a:pt x="1297156" y="23473"/>
                    <a:pt x="1338938" y="65254"/>
                  </a:cubicBezTo>
                  <a:cubicBezTo>
                    <a:pt x="1380719" y="107035"/>
                    <a:pt x="1404192" y="163703"/>
                    <a:pt x="1404192" y="222791"/>
                  </a:cubicBezTo>
                  <a:lnTo>
                    <a:pt x="1404192" y="3198859"/>
                  </a:lnTo>
                  <a:cubicBezTo>
                    <a:pt x="1404192" y="3321903"/>
                    <a:pt x="1304445" y="3421649"/>
                    <a:pt x="1181401" y="3421649"/>
                  </a:cubicBezTo>
                  <a:lnTo>
                    <a:pt x="222791" y="3421649"/>
                  </a:lnTo>
                  <a:cubicBezTo>
                    <a:pt x="163703" y="3421649"/>
                    <a:pt x="107035" y="3398177"/>
                    <a:pt x="65254" y="3356396"/>
                  </a:cubicBezTo>
                  <a:cubicBezTo>
                    <a:pt x="23473" y="3314614"/>
                    <a:pt x="0" y="3257946"/>
                    <a:pt x="0" y="3198859"/>
                  </a:cubicBezTo>
                  <a:lnTo>
                    <a:pt x="0" y="222791"/>
                  </a:lnTo>
                  <a:cubicBezTo>
                    <a:pt x="0" y="163703"/>
                    <a:pt x="23473" y="107035"/>
                    <a:pt x="65254" y="65254"/>
                  </a:cubicBezTo>
                  <a:cubicBezTo>
                    <a:pt x="107035" y="23473"/>
                    <a:pt x="163703" y="0"/>
                    <a:pt x="222791" y="0"/>
                  </a:cubicBezTo>
                  <a:close/>
                </a:path>
              </a:pathLst>
            </a:custGeom>
            <a:gradFill rotWithShape="true">
              <a:gsLst>
                <a:gs pos="0">
                  <a:srgbClr val="EBE3D5">
                    <a:alpha val="100000"/>
                  </a:srgbClr>
                </a:gs>
                <a:gs pos="50000">
                  <a:srgbClr val="C8BDAA">
                    <a:alpha val="100000"/>
                  </a:srgbClr>
                </a:gs>
                <a:gs pos="100000">
                  <a:srgbClr val="EBE3D5">
                    <a:alpha val="100000"/>
                  </a:srgbClr>
                </a:gs>
              </a:gsLst>
              <a:lin ang="0"/>
            </a:gradFill>
          </p:spPr>
        </p:sp>
        <p:sp>
          <p:nvSpPr>
            <p:cNvPr name="TextBox 7" id="7"/>
            <p:cNvSpPr txBox="true"/>
            <p:nvPr/>
          </p:nvSpPr>
          <p:spPr>
            <a:xfrm>
              <a:off x="0" y="-47625"/>
              <a:ext cx="1404192" cy="3469274"/>
            </a:xfrm>
            <a:prstGeom prst="rect">
              <a:avLst/>
            </a:prstGeom>
          </p:spPr>
          <p:txBody>
            <a:bodyPr anchor="ctr" rtlCol="false" tIns="45054" lIns="45054" bIns="45054" rIns="45054"/>
            <a:lstStyle/>
            <a:p>
              <a:pPr algn="ctr">
                <a:lnSpc>
                  <a:spcPts val="1986"/>
                </a:lnSpc>
              </a:pPr>
            </a:p>
          </p:txBody>
        </p:sp>
      </p:grpSp>
      <p:sp>
        <p:nvSpPr>
          <p:cNvPr name="TextBox 8" id="8"/>
          <p:cNvSpPr txBox="true"/>
          <p:nvPr/>
        </p:nvSpPr>
        <p:spPr>
          <a:xfrm rot="0">
            <a:off x="5033760" y="1104223"/>
            <a:ext cx="7766228" cy="1652269"/>
          </a:xfrm>
          <a:prstGeom prst="rect">
            <a:avLst/>
          </a:prstGeom>
        </p:spPr>
        <p:txBody>
          <a:bodyPr anchor="t" rtlCol="false" tIns="0" lIns="0" bIns="0" rIns="0">
            <a:spAutoFit/>
          </a:bodyPr>
          <a:lstStyle/>
          <a:p>
            <a:pPr algn="ctr">
              <a:lnSpc>
                <a:spcPts val="12880"/>
              </a:lnSpc>
            </a:pPr>
            <a:r>
              <a:rPr lang="en-US" sz="9200" b="true">
                <a:solidFill>
                  <a:srgbClr val="000000"/>
                </a:solidFill>
                <a:latin typeface="Poppins Bold"/>
                <a:ea typeface="Poppins Bold"/>
                <a:cs typeface="Poppins Bold"/>
                <a:sym typeface="Poppins Bold"/>
              </a:rPr>
              <a:t>Moat</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028700" y="9163919"/>
            <a:ext cx="1007887" cy="2246162"/>
            <a:chOff x="0" y="0"/>
            <a:chExt cx="407274" cy="907645"/>
          </a:xfrm>
        </p:grpSpPr>
        <p:sp>
          <p:nvSpPr>
            <p:cNvPr name="Freeform 3" id="3"/>
            <p:cNvSpPr/>
            <p:nvPr/>
          </p:nvSpPr>
          <p:spPr>
            <a:xfrm flipH="false" flipV="false" rot="0">
              <a:off x="0" y="0"/>
              <a:ext cx="407274" cy="907645"/>
            </a:xfrm>
            <a:custGeom>
              <a:avLst/>
              <a:gdLst/>
              <a:ahLst/>
              <a:cxnLst/>
              <a:rect r="r" b="b" t="t" l="l"/>
              <a:pathLst>
                <a:path h="907645" w="407274">
                  <a:moveTo>
                    <a:pt x="203637" y="0"/>
                  </a:moveTo>
                  <a:lnTo>
                    <a:pt x="203637" y="0"/>
                  </a:lnTo>
                  <a:cubicBezTo>
                    <a:pt x="257645" y="0"/>
                    <a:pt x="309441" y="21455"/>
                    <a:pt x="347630" y="59644"/>
                  </a:cubicBezTo>
                  <a:cubicBezTo>
                    <a:pt x="385820" y="97833"/>
                    <a:pt x="407274" y="149629"/>
                    <a:pt x="407274" y="203637"/>
                  </a:cubicBezTo>
                  <a:lnTo>
                    <a:pt x="407274" y="704008"/>
                  </a:lnTo>
                  <a:cubicBezTo>
                    <a:pt x="407274" y="758016"/>
                    <a:pt x="385820" y="809812"/>
                    <a:pt x="347630" y="848001"/>
                  </a:cubicBezTo>
                  <a:cubicBezTo>
                    <a:pt x="309441" y="886190"/>
                    <a:pt x="257645" y="907645"/>
                    <a:pt x="203637" y="907645"/>
                  </a:cubicBezTo>
                  <a:lnTo>
                    <a:pt x="203637" y="907645"/>
                  </a:lnTo>
                  <a:cubicBezTo>
                    <a:pt x="149629" y="907645"/>
                    <a:pt x="97833" y="886190"/>
                    <a:pt x="59644" y="848001"/>
                  </a:cubicBezTo>
                  <a:cubicBezTo>
                    <a:pt x="21455" y="809812"/>
                    <a:pt x="0" y="758016"/>
                    <a:pt x="0" y="704008"/>
                  </a:cubicBezTo>
                  <a:lnTo>
                    <a:pt x="0" y="203637"/>
                  </a:lnTo>
                  <a:cubicBezTo>
                    <a:pt x="0" y="149629"/>
                    <a:pt x="21455" y="97833"/>
                    <a:pt x="59644" y="59644"/>
                  </a:cubicBezTo>
                  <a:cubicBezTo>
                    <a:pt x="97833" y="21455"/>
                    <a:pt x="149629" y="0"/>
                    <a:pt x="203637" y="0"/>
                  </a:cubicBezTo>
                  <a:close/>
                </a:path>
              </a:pathLst>
            </a:custGeom>
            <a:gradFill rotWithShape="true">
              <a:gsLst>
                <a:gs pos="0">
                  <a:srgbClr val="EBE3D5">
                    <a:alpha val="100000"/>
                  </a:srgbClr>
                </a:gs>
                <a:gs pos="50000">
                  <a:srgbClr val="C8BDAA">
                    <a:alpha val="100000"/>
                  </a:srgbClr>
                </a:gs>
                <a:gs pos="100000">
                  <a:srgbClr val="EBE3D5">
                    <a:alpha val="100000"/>
                  </a:srgbClr>
                </a:gs>
              </a:gsLst>
              <a:lin ang="0"/>
            </a:gradFill>
          </p:spPr>
        </p:sp>
        <p:sp>
          <p:nvSpPr>
            <p:cNvPr name="TextBox 4" id="4"/>
            <p:cNvSpPr txBox="true"/>
            <p:nvPr/>
          </p:nvSpPr>
          <p:spPr>
            <a:xfrm>
              <a:off x="0" y="-47625"/>
              <a:ext cx="407274" cy="955270"/>
            </a:xfrm>
            <a:prstGeom prst="rect">
              <a:avLst/>
            </a:prstGeom>
          </p:spPr>
          <p:txBody>
            <a:bodyPr anchor="ctr" rtlCol="false" tIns="45054" lIns="45054" bIns="45054" rIns="45054"/>
            <a:lstStyle/>
            <a:p>
              <a:pPr algn="ctr">
                <a:lnSpc>
                  <a:spcPts val="1986"/>
                </a:lnSpc>
              </a:pPr>
            </a:p>
          </p:txBody>
        </p:sp>
      </p:grpSp>
      <p:sp>
        <p:nvSpPr>
          <p:cNvPr name="Freeform 5" id="5"/>
          <p:cNvSpPr/>
          <p:nvPr/>
        </p:nvSpPr>
        <p:spPr>
          <a:xfrm flipH="false" flipV="false" rot="0">
            <a:off x="2284465" y="9354470"/>
            <a:ext cx="3130446" cy="609133"/>
          </a:xfrm>
          <a:custGeom>
            <a:avLst/>
            <a:gdLst/>
            <a:ahLst/>
            <a:cxnLst/>
            <a:rect r="r" b="b" t="t" l="l"/>
            <a:pathLst>
              <a:path h="609133" w="3130446">
                <a:moveTo>
                  <a:pt x="0" y="0"/>
                </a:moveTo>
                <a:lnTo>
                  <a:pt x="3130446" y="0"/>
                </a:lnTo>
                <a:lnTo>
                  <a:pt x="3130446" y="609132"/>
                </a:lnTo>
                <a:lnTo>
                  <a:pt x="0" y="609132"/>
                </a:lnTo>
                <a:lnTo>
                  <a:pt x="0" y="0"/>
                </a:lnTo>
                <a:close/>
              </a:path>
            </a:pathLst>
          </a:custGeom>
          <a:blipFill>
            <a:blip r:embed="rId2"/>
            <a:stretch>
              <a:fillRect l="0" t="0" r="0" b="0"/>
            </a:stretch>
          </a:blipFill>
        </p:spPr>
      </p:sp>
      <p:sp>
        <p:nvSpPr>
          <p:cNvPr name="Freeform 6" id="6"/>
          <p:cNvSpPr/>
          <p:nvPr/>
        </p:nvSpPr>
        <p:spPr>
          <a:xfrm flipH="false" flipV="false" rot="0">
            <a:off x="1246238" y="2764510"/>
            <a:ext cx="3420929" cy="3306898"/>
          </a:xfrm>
          <a:custGeom>
            <a:avLst/>
            <a:gdLst/>
            <a:ahLst/>
            <a:cxnLst/>
            <a:rect r="r" b="b" t="t" l="l"/>
            <a:pathLst>
              <a:path h="3306898" w="3420929">
                <a:moveTo>
                  <a:pt x="0" y="0"/>
                </a:moveTo>
                <a:lnTo>
                  <a:pt x="3420930" y="0"/>
                </a:lnTo>
                <a:lnTo>
                  <a:pt x="3420930" y="3306898"/>
                </a:lnTo>
                <a:lnTo>
                  <a:pt x="0" y="3306898"/>
                </a:lnTo>
                <a:lnTo>
                  <a:pt x="0" y="0"/>
                </a:lnTo>
                <a:close/>
              </a:path>
            </a:pathLst>
          </a:custGeom>
          <a:blipFill>
            <a:blip r:embed="rId3"/>
            <a:stretch>
              <a:fillRect l="0" t="0" r="0" b="0"/>
            </a:stretch>
          </a:blipFill>
        </p:spPr>
      </p:sp>
      <p:sp>
        <p:nvSpPr>
          <p:cNvPr name="TextBox 7" id="7"/>
          <p:cNvSpPr txBox="true"/>
          <p:nvPr/>
        </p:nvSpPr>
        <p:spPr>
          <a:xfrm rot="0">
            <a:off x="6057265" y="3580303"/>
            <a:ext cx="11202035" cy="2986405"/>
          </a:xfrm>
          <a:prstGeom prst="rect">
            <a:avLst/>
          </a:prstGeom>
        </p:spPr>
        <p:txBody>
          <a:bodyPr anchor="t" rtlCol="false" tIns="0" lIns="0" bIns="0" rIns="0">
            <a:spAutoFit/>
          </a:bodyPr>
          <a:lstStyle/>
          <a:p>
            <a:pPr algn="l" marL="604523" indent="-302261" lvl="1">
              <a:lnSpc>
                <a:spcPts val="3920"/>
              </a:lnSpc>
              <a:buFont typeface="Arial"/>
              <a:buChar char="•"/>
            </a:pPr>
            <a:r>
              <a:rPr lang="en-US" sz="2800">
                <a:solidFill>
                  <a:srgbClr val="694C2B"/>
                </a:solidFill>
                <a:latin typeface="Poppins"/>
                <a:ea typeface="Poppins"/>
                <a:cs typeface="Poppins"/>
                <a:sym typeface="Poppins"/>
              </a:rPr>
              <a:t>ECOXYZTEM punya cerita unik: limbah produk relaksasi.</a:t>
            </a:r>
          </a:p>
          <a:p>
            <a:pPr algn="l" marL="604523" indent="-302261" lvl="1">
              <a:lnSpc>
                <a:spcPts val="3920"/>
              </a:lnSpc>
              <a:buFont typeface="Arial"/>
              <a:buChar char="•"/>
            </a:pPr>
            <a:r>
              <a:rPr lang="en-US" sz="2800">
                <a:solidFill>
                  <a:srgbClr val="694C2B"/>
                </a:solidFill>
                <a:latin typeface="Poppins"/>
                <a:ea typeface="Poppins"/>
                <a:cs typeface="Poppins"/>
                <a:sym typeface="Poppins"/>
              </a:rPr>
              <a:t>Konsumen aromaterapi sangat dipengaruhi emosi, nilai, dan cerita brand, bukan hanya fungsi.</a:t>
            </a:r>
          </a:p>
          <a:p>
            <a:pPr algn="l" marL="604523" indent="-302261" lvl="1">
              <a:lnSpc>
                <a:spcPts val="3920"/>
              </a:lnSpc>
              <a:buFont typeface="Arial"/>
              <a:buChar char="•"/>
            </a:pPr>
            <a:r>
              <a:rPr lang="en-US" sz="2800">
                <a:solidFill>
                  <a:srgbClr val="694C2B"/>
                </a:solidFill>
                <a:latin typeface="Poppins"/>
                <a:ea typeface="Poppins"/>
                <a:cs typeface="Poppins"/>
                <a:sym typeface="Poppins"/>
              </a:rPr>
              <a:t>Branding eco-friendly + well-being sulit ditiru secara autentik.</a:t>
            </a:r>
          </a:p>
          <a:p>
            <a:pPr algn="l">
              <a:lnSpc>
                <a:spcPts val="3920"/>
              </a:lnSpc>
            </a:pPr>
          </a:p>
        </p:txBody>
      </p:sp>
      <p:sp>
        <p:nvSpPr>
          <p:cNvPr name="TextBox 8" id="8"/>
          <p:cNvSpPr txBox="true"/>
          <p:nvPr/>
        </p:nvSpPr>
        <p:spPr>
          <a:xfrm rot="0">
            <a:off x="1246238" y="9466037"/>
            <a:ext cx="572811" cy="414572"/>
          </a:xfrm>
          <a:prstGeom prst="rect">
            <a:avLst/>
          </a:prstGeom>
        </p:spPr>
        <p:txBody>
          <a:bodyPr anchor="t" rtlCol="false" tIns="0" lIns="0" bIns="0" rIns="0">
            <a:spAutoFit/>
          </a:bodyPr>
          <a:lstStyle/>
          <a:p>
            <a:pPr algn="ctr">
              <a:lnSpc>
                <a:spcPts val="3260"/>
              </a:lnSpc>
            </a:pPr>
            <a:r>
              <a:rPr lang="en-US" sz="2937" spc="328">
                <a:solidFill>
                  <a:srgbClr val="694C2B"/>
                </a:solidFill>
                <a:latin typeface="Open Sans"/>
                <a:ea typeface="Open Sans"/>
                <a:cs typeface="Open Sans"/>
                <a:sym typeface="Open Sans"/>
              </a:rPr>
              <a:t>3</a:t>
            </a:r>
          </a:p>
        </p:txBody>
      </p:sp>
      <p:sp>
        <p:nvSpPr>
          <p:cNvPr name="TextBox 9" id="9"/>
          <p:cNvSpPr txBox="true"/>
          <p:nvPr/>
        </p:nvSpPr>
        <p:spPr>
          <a:xfrm rot="0">
            <a:off x="1028700" y="377672"/>
            <a:ext cx="4141808" cy="651028"/>
          </a:xfrm>
          <a:prstGeom prst="rect">
            <a:avLst/>
          </a:prstGeom>
        </p:spPr>
        <p:txBody>
          <a:bodyPr anchor="t" rtlCol="false" tIns="0" lIns="0" bIns="0" rIns="0">
            <a:spAutoFit/>
          </a:bodyPr>
          <a:lstStyle/>
          <a:p>
            <a:pPr algn="l">
              <a:lnSpc>
                <a:spcPts val="5066"/>
              </a:lnSpc>
              <a:spcBef>
                <a:spcPct val="0"/>
              </a:spcBef>
            </a:pPr>
            <a:r>
              <a:rPr lang="en-US" b="true" sz="3618">
                <a:solidFill>
                  <a:srgbClr val="694C2B"/>
                </a:solidFill>
                <a:latin typeface="Poppins Bold"/>
                <a:ea typeface="Poppins Bold"/>
                <a:cs typeface="Poppins Bold"/>
                <a:sym typeface="Poppins Bold"/>
              </a:rPr>
              <a:t>MOAT</a:t>
            </a:r>
          </a:p>
        </p:txBody>
      </p:sp>
      <p:sp>
        <p:nvSpPr>
          <p:cNvPr name="TextBox 10" id="10"/>
          <p:cNvSpPr txBox="true"/>
          <p:nvPr/>
        </p:nvSpPr>
        <p:spPr>
          <a:xfrm rot="0">
            <a:off x="6287582" y="2837368"/>
            <a:ext cx="4141808" cy="651028"/>
          </a:xfrm>
          <a:prstGeom prst="rect">
            <a:avLst/>
          </a:prstGeom>
        </p:spPr>
        <p:txBody>
          <a:bodyPr anchor="t" rtlCol="false" tIns="0" lIns="0" bIns="0" rIns="0">
            <a:spAutoFit/>
          </a:bodyPr>
          <a:lstStyle/>
          <a:p>
            <a:pPr algn="l">
              <a:lnSpc>
                <a:spcPts val="5066"/>
              </a:lnSpc>
              <a:spcBef>
                <a:spcPct val="0"/>
              </a:spcBef>
            </a:pPr>
            <a:r>
              <a:rPr lang="en-US" b="true" sz="3618">
                <a:solidFill>
                  <a:srgbClr val="694C2B"/>
                </a:solidFill>
                <a:latin typeface="Poppins Bold"/>
                <a:ea typeface="Poppins Bold"/>
                <a:cs typeface="Poppins Bold"/>
                <a:sym typeface="Poppins Bold"/>
              </a:rPr>
              <a:t>Merk/Branding</a:t>
            </a:r>
          </a:p>
        </p:txBody>
      </p:sp>
      <p:sp>
        <p:nvSpPr>
          <p:cNvPr name="Freeform 11" id="11"/>
          <p:cNvSpPr/>
          <p:nvPr/>
        </p:nvSpPr>
        <p:spPr>
          <a:xfrm flipH="false" flipV="false" rot="0">
            <a:off x="9001123" y="6071408"/>
            <a:ext cx="8806817" cy="3968834"/>
          </a:xfrm>
          <a:custGeom>
            <a:avLst/>
            <a:gdLst/>
            <a:ahLst/>
            <a:cxnLst/>
            <a:rect r="r" b="b" t="t" l="l"/>
            <a:pathLst>
              <a:path h="3968834" w="8806817">
                <a:moveTo>
                  <a:pt x="0" y="0"/>
                </a:moveTo>
                <a:lnTo>
                  <a:pt x="8806817" y="0"/>
                </a:lnTo>
                <a:lnTo>
                  <a:pt x="8806817" y="3968834"/>
                </a:lnTo>
                <a:lnTo>
                  <a:pt x="0" y="3968834"/>
                </a:lnTo>
                <a:lnTo>
                  <a:pt x="0" y="0"/>
                </a:lnTo>
                <a:close/>
              </a:path>
            </a:pathLst>
          </a:custGeom>
          <a:blipFill>
            <a:blip r:embed="rId4"/>
            <a:stretch>
              <a:fillRect l="0" t="-33133" r="0" b="-33811"/>
            </a:stretch>
          </a:blipFill>
        </p:spPr>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556387" y="-3632294"/>
            <a:ext cx="3474974" cy="8467605"/>
            <a:chOff x="0" y="0"/>
            <a:chExt cx="1404192" cy="3421649"/>
          </a:xfrm>
        </p:grpSpPr>
        <p:sp>
          <p:nvSpPr>
            <p:cNvPr name="Freeform 3" id="3"/>
            <p:cNvSpPr/>
            <p:nvPr/>
          </p:nvSpPr>
          <p:spPr>
            <a:xfrm flipH="false" flipV="false" rot="0">
              <a:off x="0" y="0"/>
              <a:ext cx="1404192" cy="3421649"/>
            </a:xfrm>
            <a:custGeom>
              <a:avLst/>
              <a:gdLst/>
              <a:ahLst/>
              <a:cxnLst/>
              <a:rect r="r" b="b" t="t" l="l"/>
              <a:pathLst>
                <a:path h="3421649" w="1404192">
                  <a:moveTo>
                    <a:pt x="222791" y="0"/>
                  </a:moveTo>
                  <a:lnTo>
                    <a:pt x="1181401" y="0"/>
                  </a:lnTo>
                  <a:cubicBezTo>
                    <a:pt x="1240489" y="0"/>
                    <a:pt x="1297156" y="23473"/>
                    <a:pt x="1338938" y="65254"/>
                  </a:cubicBezTo>
                  <a:cubicBezTo>
                    <a:pt x="1380719" y="107035"/>
                    <a:pt x="1404192" y="163703"/>
                    <a:pt x="1404192" y="222791"/>
                  </a:cubicBezTo>
                  <a:lnTo>
                    <a:pt x="1404192" y="3198859"/>
                  </a:lnTo>
                  <a:cubicBezTo>
                    <a:pt x="1404192" y="3321903"/>
                    <a:pt x="1304445" y="3421649"/>
                    <a:pt x="1181401" y="3421649"/>
                  </a:cubicBezTo>
                  <a:lnTo>
                    <a:pt x="222791" y="3421649"/>
                  </a:lnTo>
                  <a:cubicBezTo>
                    <a:pt x="163703" y="3421649"/>
                    <a:pt x="107035" y="3398177"/>
                    <a:pt x="65254" y="3356396"/>
                  </a:cubicBezTo>
                  <a:cubicBezTo>
                    <a:pt x="23473" y="3314614"/>
                    <a:pt x="0" y="3257946"/>
                    <a:pt x="0" y="3198859"/>
                  </a:cubicBezTo>
                  <a:lnTo>
                    <a:pt x="0" y="222791"/>
                  </a:lnTo>
                  <a:cubicBezTo>
                    <a:pt x="0" y="163703"/>
                    <a:pt x="23473" y="107035"/>
                    <a:pt x="65254" y="65254"/>
                  </a:cubicBezTo>
                  <a:cubicBezTo>
                    <a:pt x="107035" y="23473"/>
                    <a:pt x="163703" y="0"/>
                    <a:pt x="222791" y="0"/>
                  </a:cubicBezTo>
                  <a:close/>
                </a:path>
              </a:pathLst>
            </a:custGeom>
            <a:gradFill rotWithShape="true">
              <a:gsLst>
                <a:gs pos="0">
                  <a:srgbClr val="EBE3D5">
                    <a:alpha val="100000"/>
                  </a:srgbClr>
                </a:gs>
                <a:gs pos="50000">
                  <a:srgbClr val="C8BDAA">
                    <a:alpha val="100000"/>
                  </a:srgbClr>
                </a:gs>
                <a:gs pos="100000">
                  <a:srgbClr val="EBE3D5">
                    <a:alpha val="100000"/>
                  </a:srgbClr>
                </a:gs>
              </a:gsLst>
              <a:lin ang="0"/>
            </a:gradFill>
          </p:spPr>
        </p:sp>
        <p:sp>
          <p:nvSpPr>
            <p:cNvPr name="TextBox 4" id="4"/>
            <p:cNvSpPr txBox="true"/>
            <p:nvPr/>
          </p:nvSpPr>
          <p:spPr>
            <a:xfrm>
              <a:off x="0" y="-47625"/>
              <a:ext cx="1404192" cy="3469274"/>
            </a:xfrm>
            <a:prstGeom prst="rect">
              <a:avLst/>
            </a:prstGeom>
          </p:spPr>
          <p:txBody>
            <a:bodyPr anchor="ctr" rtlCol="false" tIns="45054" lIns="45054" bIns="45054" rIns="45054"/>
            <a:lstStyle/>
            <a:p>
              <a:pPr algn="ctr">
                <a:lnSpc>
                  <a:spcPts val="1986"/>
                </a:lnSpc>
              </a:pPr>
            </a:p>
          </p:txBody>
        </p:sp>
      </p:grpSp>
      <p:sp>
        <p:nvSpPr>
          <p:cNvPr name="Freeform 5" id="5"/>
          <p:cNvSpPr/>
          <p:nvPr/>
        </p:nvSpPr>
        <p:spPr>
          <a:xfrm flipH="false" flipV="false" rot="0">
            <a:off x="1181100" y="9080937"/>
            <a:ext cx="4005060" cy="747198"/>
          </a:xfrm>
          <a:custGeom>
            <a:avLst/>
            <a:gdLst/>
            <a:ahLst/>
            <a:cxnLst/>
            <a:rect r="r" b="b" t="t" l="l"/>
            <a:pathLst>
              <a:path h="747198" w="4005060">
                <a:moveTo>
                  <a:pt x="0" y="0"/>
                </a:moveTo>
                <a:lnTo>
                  <a:pt x="4005060" y="0"/>
                </a:lnTo>
                <a:lnTo>
                  <a:pt x="4005060" y="747198"/>
                </a:lnTo>
                <a:lnTo>
                  <a:pt x="0" y="747198"/>
                </a:lnTo>
                <a:lnTo>
                  <a:pt x="0" y="0"/>
                </a:lnTo>
                <a:close/>
              </a:path>
            </a:pathLst>
          </a:custGeom>
          <a:blipFill>
            <a:blip r:embed="rId2"/>
            <a:stretch>
              <a:fillRect l="-4095" t="-10912" r="-4095" b="-1929"/>
            </a:stretch>
          </a:blipFill>
        </p:spPr>
      </p:sp>
      <p:sp>
        <p:nvSpPr>
          <p:cNvPr name="Freeform 6" id="6"/>
          <p:cNvSpPr/>
          <p:nvPr/>
        </p:nvSpPr>
        <p:spPr>
          <a:xfrm flipH="false" flipV="false" rot="-6545616">
            <a:off x="12574396" y="10626354"/>
            <a:ext cx="10565682" cy="2785498"/>
          </a:xfrm>
          <a:custGeom>
            <a:avLst/>
            <a:gdLst/>
            <a:ahLst/>
            <a:cxnLst/>
            <a:rect r="r" b="b" t="t" l="l"/>
            <a:pathLst>
              <a:path h="2785498" w="10565682">
                <a:moveTo>
                  <a:pt x="0" y="0"/>
                </a:moveTo>
                <a:lnTo>
                  <a:pt x="10565683" y="0"/>
                </a:lnTo>
                <a:lnTo>
                  <a:pt x="10565683" y="2785498"/>
                </a:lnTo>
                <a:lnTo>
                  <a:pt x="0" y="278549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7" id="7"/>
          <p:cNvSpPr txBox="true"/>
          <p:nvPr/>
        </p:nvSpPr>
        <p:spPr>
          <a:xfrm rot="0">
            <a:off x="3474974" y="3632723"/>
            <a:ext cx="11338053" cy="4877209"/>
          </a:xfrm>
          <a:prstGeom prst="rect">
            <a:avLst/>
          </a:prstGeom>
        </p:spPr>
        <p:txBody>
          <a:bodyPr anchor="t" rtlCol="false" tIns="0" lIns="0" bIns="0" rIns="0">
            <a:spAutoFit/>
          </a:bodyPr>
          <a:lstStyle/>
          <a:p>
            <a:pPr algn="ctr">
              <a:lnSpc>
                <a:spcPts val="7757"/>
              </a:lnSpc>
              <a:spcBef>
                <a:spcPct val="0"/>
              </a:spcBef>
            </a:pPr>
          </a:p>
          <a:p>
            <a:pPr algn="ctr">
              <a:lnSpc>
                <a:spcPts val="7757"/>
              </a:lnSpc>
              <a:spcBef>
                <a:spcPct val="0"/>
              </a:spcBef>
            </a:pPr>
            <a:r>
              <a:rPr lang="en-US" sz="5540">
                <a:solidFill>
                  <a:srgbClr val="000000"/>
                </a:solidFill>
                <a:latin typeface="Poppins"/>
                <a:ea typeface="Poppins"/>
                <a:cs typeface="Poppins"/>
                <a:sym typeface="Poppins"/>
              </a:rPr>
              <a:t>Market size adalah total potensi pasar yang bisa dilayani oleh suatu produk atau bisnis</a:t>
            </a:r>
          </a:p>
          <a:p>
            <a:pPr algn="ctr">
              <a:lnSpc>
                <a:spcPts val="7757"/>
              </a:lnSpc>
              <a:spcBef>
                <a:spcPct val="0"/>
              </a:spcBef>
            </a:pPr>
          </a:p>
        </p:txBody>
      </p:sp>
      <p:sp>
        <p:nvSpPr>
          <p:cNvPr name="TextBox 8" id="8"/>
          <p:cNvSpPr txBox="true"/>
          <p:nvPr/>
        </p:nvSpPr>
        <p:spPr>
          <a:xfrm rot="0">
            <a:off x="2918587" y="1844786"/>
            <a:ext cx="13457340" cy="1652269"/>
          </a:xfrm>
          <a:prstGeom prst="rect">
            <a:avLst/>
          </a:prstGeom>
        </p:spPr>
        <p:txBody>
          <a:bodyPr anchor="t" rtlCol="false" tIns="0" lIns="0" bIns="0" rIns="0">
            <a:spAutoFit/>
          </a:bodyPr>
          <a:lstStyle/>
          <a:p>
            <a:pPr algn="ctr">
              <a:lnSpc>
                <a:spcPts val="12880"/>
              </a:lnSpc>
            </a:pPr>
            <a:r>
              <a:rPr lang="en-US" sz="9200" b="true">
                <a:solidFill>
                  <a:srgbClr val="000000"/>
                </a:solidFill>
                <a:latin typeface="Poppins Bold"/>
                <a:ea typeface="Poppins Bold"/>
                <a:cs typeface="Poppins Bold"/>
                <a:sym typeface="Poppins Bold"/>
              </a:rPr>
              <a:t>M</a:t>
            </a:r>
            <a:r>
              <a:rPr lang="en-US" b="true" sz="9200">
                <a:solidFill>
                  <a:srgbClr val="000000"/>
                </a:solidFill>
                <a:latin typeface="Poppins Bold"/>
                <a:ea typeface="Poppins Bold"/>
                <a:cs typeface="Poppins Bold"/>
                <a:sym typeface="Poppins Bold"/>
              </a:rPr>
              <a:t>arket size</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028700" y="9163919"/>
            <a:ext cx="1007887" cy="2246162"/>
            <a:chOff x="0" y="0"/>
            <a:chExt cx="407274" cy="907645"/>
          </a:xfrm>
        </p:grpSpPr>
        <p:sp>
          <p:nvSpPr>
            <p:cNvPr name="Freeform 3" id="3"/>
            <p:cNvSpPr/>
            <p:nvPr/>
          </p:nvSpPr>
          <p:spPr>
            <a:xfrm flipH="false" flipV="false" rot="0">
              <a:off x="0" y="0"/>
              <a:ext cx="407274" cy="907645"/>
            </a:xfrm>
            <a:custGeom>
              <a:avLst/>
              <a:gdLst/>
              <a:ahLst/>
              <a:cxnLst/>
              <a:rect r="r" b="b" t="t" l="l"/>
              <a:pathLst>
                <a:path h="907645" w="407274">
                  <a:moveTo>
                    <a:pt x="203637" y="0"/>
                  </a:moveTo>
                  <a:lnTo>
                    <a:pt x="203637" y="0"/>
                  </a:lnTo>
                  <a:cubicBezTo>
                    <a:pt x="257645" y="0"/>
                    <a:pt x="309441" y="21455"/>
                    <a:pt x="347630" y="59644"/>
                  </a:cubicBezTo>
                  <a:cubicBezTo>
                    <a:pt x="385820" y="97833"/>
                    <a:pt x="407274" y="149629"/>
                    <a:pt x="407274" y="203637"/>
                  </a:cubicBezTo>
                  <a:lnTo>
                    <a:pt x="407274" y="704008"/>
                  </a:lnTo>
                  <a:cubicBezTo>
                    <a:pt x="407274" y="758016"/>
                    <a:pt x="385820" y="809812"/>
                    <a:pt x="347630" y="848001"/>
                  </a:cubicBezTo>
                  <a:cubicBezTo>
                    <a:pt x="309441" y="886190"/>
                    <a:pt x="257645" y="907645"/>
                    <a:pt x="203637" y="907645"/>
                  </a:cubicBezTo>
                  <a:lnTo>
                    <a:pt x="203637" y="907645"/>
                  </a:lnTo>
                  <a:cubicBezTo>
                    <a:pt x="149629" y="907645"/>
                    <a:pt x="97833" y="886190"/>
                    <a:pt x="59644" y="848001"/>
                  </a:cubicBezTo>
                  <a:cubicBezTo>
                    <a:pt x="21455" y="809812"/>
                    <a:pt x="0" y="758016"/>
                    <a:pt x="0" y="704008"/>
                  </a:cubicBezTo>
                  <a:lnTo>
                    <a:pt x="0" y="203637"/>
                  </a:lnTo>
                  <a:cubicBezTo>
                    <a:pt x="0" y="149629"/>
                    <a:pt x="21455" y="97833"/>
                    <a:pt x="59644" y="59644"/>
                  </a:cubicBezTo>
                  <a:cubicBezTo>
                    <a:pt x="97833" y="21455"/>
                    <a:pt x="149629" y="0"/>
                    <a:pt x="203637" y="0"/>
                  </a:cubicBezTo>
                  <a:close/>
                </a:path>
              </a:pathLst>
            </a:custGeom>
            <a:gradFill rotWithShape="true">
              <a:gsLst>
                <a:gs pos="0">
                  <a:srgbClr val="EBE3D5">
                    <a:alpha val="100000"/>
                  </a:srgbClr>
                </a:gs>
                <a:gs pos="50000">
                  <a:srgbClr val="C8BDAA">
                    <a:alpha val="100000"/>
                  </a:srgbClr>
                </a:gs>
                <a:gs pos="100000">
                  <a:srgbClr val="EBE3D5">
                    <a:alpha val="100000"/>
                  </a:srgbClr>
                </a:gs>
              </a:gsLst>
              <a:lin ang="0"/>
            </a:gradFill>
          </p:spPr>
        </p:sp>
        <p:sp>
          <p:nvSpPr>
            <p:cNvPr name="TextBox 4" id="4"/>
            <p:cNvSpPr txBox="true"/>
            <p:nvPr/>
          </p:nvSpPr>
          <p:spPr>
            <a:xfrm>
              <a:off x="0" y="-47625"/>
              <a:ext cx="407274" cy="955270"/>
            </a:xfrm>
            <a:prstGeom prst="rect">
              <a:avLst/>
            </a:prstGeom>
          </p:spPr>
          <p:txBody>
            <a:bodyPr anchor="ctr" rtlCol="false" tIns="45054" lIns="45054" bIns="45054" rIns="45054"/>
            <a:lstStyle/>
            <a:p>
              <a:pPr algn="ctr">
                <a:lnSpc>
                  <a:spcPts val="1986"/>
                </a:lnSpc>
              </a:pPr>
            </a:p>
          </p:txBody>
        </p:sp>
      </p:grpSp>
      <p:sp>
        <p:nvSpPr>
          <p:cNvPr name="Freeform 5" id="5"/>
          <p:cNvSpPr/>
          <p:nvPr/>
        </p:nvSpPr>
        <p:spPr>
          <a:xfrm flipH="false" flipV="false" rot="0">
            <a:off x="2284465" y="9354470"/>
            <a:ext cx="3130446" cy="609133"/>
          </a:xfrm>
          <a:custGeom>
            <a:avLst/>
            <a:gdLst/>
            <a:ahLst/>
            <a:cxnLst/>
            <a:rect r="r" b="b" t="t" l="l"/>
            <a:pathLst>
              <a:path h="609133" w="3130446">
                <a:moveTo>
                  <a:pt x="0" y="0"/>
                </a:moveTo>
                <a:lnTo>
                  <a:pt x="3130446" y="0"/>
                </a:lnTo>
                <a:lnTo>
                  <a:pt x="3130446" y="609132"/>
                </a:lnTo>
                <a:lnTo>
                  <a:pt x="0" y="609132"/>
                </a:lnTo>
                <a:lnTo>
                  <a:pt x="0" y="0"/>
                </a:lnTo>
                <a:close/>
              </a:path>
            </a:pathLst>
          </a:custGeom>
          <a:blipFill>
            <a:blip r:embed="rId2"/>
            <a:stretch>
              <a:fillRect l="0" t="0" r="0" b="0"/>
            </a:stretch>
          </a:blipFill>
        </p:spPr>
      </p:sp>
      <p:sp>
        <p:nvSpPr>
          <p:cNvPr name="TextBox 6" id="6"/>
          <p:cNvSpPr txBox="true"/>
          <p:nvPr/>
        </p:nvSpPr>
        <p:spPr>
          <a:xfrm rot="0">
            <a:off x="1246238" y="9466037"/>
            <a:ext cx="572811" cy="414572"/>
          </a:xfrm>
          <a:prstGeom prst="rect">
            <a:avLst/>
          </a:prstGeom>
        </p:spPr>
        <p:txBody>
          <a:bodyPr anchor="t" rtlCol="false" tIns="0" lIns="0" bIns="0" rIns="0">
            <a:spAutoFit/>
          </a:bodyPr>
          <a:lstStyle/>
          <a:p>
            <a:pPr algn="ctr">
              <a:lnSpc>
                <a:spcPts val="3260"/>
              </a:lnSpc>
            </a:pPr>
            <a:r>
              <a:rPr lang="en-US" sz="2937" spc="328">
                <a:solidFill>
                  <a:srgbClr val="694C2B"/>
                </a:solidFill>
                <a:latin typeface="Open Sans"/>
                <a:ea typeface="Open Sans"/>
                <a:cs typeface="Open Sans"/>
                <a:sym typeface="Open Sans"/>
              </a:rPr>
              <a:t>4</a:t>
            </a:r>
          </a:p>
        </p:txBody>
      </p:sp>
      <p:sp>
        <p:nvSpPr>
          <p:cNvPr name="TextBox 7" id="7"/>
          <p:cNvSpPr txBox="true"/>
          <p:nvPr/>
        </p:nvSpPr>
        <p:spPr>
          <a:xfrm rot="0">
            <a:off x="1028700" y="377672"/>
            <a:ext cx="4141808" cy="651028"/>
          </a:xfrm>
          <a:prstGeom prst="rect">
            <a:avLst/>
          </a:prstGeom>
        </p:spPr>
        <p:txBody>
          <a:bodyPr anchor="t" rtlCol="false" tIns="0" lIns="0" bIns="0" rIns="0">
            <a:spAutoFit/>
          </a:bodyPr>
          <a:lstStyle/>
          <a:p>
            <a:pPr algn="l">
              <a:lnSpc>
                <a:spcPts val="5066"/>
              </a:lnSpc>
              <a:spcBef>
                <a:spcPct val="0"/>
              </a:spcBef>
            </a:pPr>
            <a:r>
              <a:rPr lang="en-US" b="true" sz="3618">
                <a:solidFill>
                  <a:srgbClr val="694C2B"/>
                </a:solidFill>
                <a:latin typeface="Poppins Bold"/>
                <a:ea typeface="Poppins Bold"/>
                <a:cs typeface="Poppins Bold"/>
                <a:sym typeface="Poppins Bold"/>
              </a:rPr>
              <a:t>MARKET SIZE</a:t>
            </a:r>
          </a:p>
        </p:txBody>
      </p:sp>
      <p:sp>
        <p:nvSpPr>
          <p:cNvPr name="TextBox 8" id="8"/>
          <p:cNvSpPr txBox="true"/>
          <p:nvPr/>
        </p:nvSpPr>
        <p:spPr>
          <a:xfrm rot="0">
            <a:off x="12296126" y="8488170"/>
            <a:ext cx="5857918" cy="1342542"/>
          </a:xfrm>
          <a:prstGeom prst="rect">
            <a:avLst/>
          </a:prstGeom>
        </p:spPr>
        <p:txBody>
          <a:bodyPr anchor="t" rtlCol="false" tIns="0" lIns="0" bIns="0" rIns="0">
            <a:spAutoFit/>
          </a:bodyPr>
          <a:lstStyle/>
          <a:p>
            <a:pPr algn="l">
              <a:lnSpc>
                <a:spcPts val="2126"/>
              </a:lnSpc>
              <a:spcBef>
                <a:spcPct val="0"/>
              </a:spcBef>
            </a:pPr>
            <a:r>
              <a:rPr lang="en-US" sz="1519">
                <a:solidFill>
                  <a:srgbClr val="FFFFFF"/>
                </a:solidFill>
                <a:latin typeface="Poppins"/>
                <a:ea typeface="Poppins"/>
                <a:cs typeface="Poppins"/>
                <a:sym typeface="Poppins"/>
              </a:rPr>
              <a:t>Auralis sangat cocok untuk konsumen yang peduli lingkungan dan k</a:t>
            </a:r>
            <a:r>
              <a:rPr lang="en-US" sz="1519">
                <a:solidFill>
                  <a:srgbClr val="FFFFFF"/>
                </a:solidFill>
                <a:latin typeface="Poppins"/>
                <a:ea typeface="Poppins"/>
                <a:cs typeface="Poppins"/>
                <a:sym typeface="Poppins"/>
              </a:rPr>
              <a:t>esehatan mental yang mencari produk aromaterapi fungsional, terjangkau, dan selaras dengan nilai keberlanjutan serta preferensi produk ramah lingkungan.</a:t>
            </a:r>
          </a:p>
        </p:txBody>
      </p:sp>
      <p:sp>
        <p:nvSpPr>
          <p:cNvPr name="TextBox 9" id="9"/>
          <p:cNvSpPr txBox="true"/>
          <p:nvPr/>
        </p:nvSpPr>
        <p:spPr>
          <a:xfrm rot="0">
            <a:off x="1028700" y="1727934"/>
            <a:ext cx="4141808" cy="509422"/>
          </a:xfrm>
          <a:prstGeom prst="rect">
            <a:avLst/>
          </a:prstGeom>
        </p:spPr>
        <p:txBody>
          <a:bodyPr anchor="t" rtlCol="false" tIns="0" lIns="0" bIns="0" rIns="0">
            <a:spAutoFit/>
          </a:bodyPr>
          <a:lstStyle/>
          <a:p>
            <a:pPr algn="l">
              <a:lnSpc>
                <a:spcPts val="3946"/>
              </a:lnSpc>
              <a:spcBef>
                <a:spcPct val="0"/>
              </a:spcBef>
            </a:pPr>
            <a:r>
              <a:rPr lang="en-US" b="true" sz="2819">
                <a:solidFill>
                  <a:srgbClr val="694C2B"/>
                </a:solidFill>
                <a:latin typeface="Poppins Bold"/>
                <a:ea typeface="Poppins Bold"/>
                <a:cs typeface="Poppins Bold"/>
                <a:sym typeface="Poppins Bold"/>
              </a:rPr>
              <a:t>TAM (Global)</a:t>
            </a:r>
          </a:p>
        </p:txBody>
      </p:sp>
      <p:sp>
        <p:nvSpPr>
          <p:cNvPr name="TextBox 10" id="10"/>
          <p:cNvSpPr txBox="true"/>
          <p:nvPr/>
        </p:nvSpPr>
        <p:spPr>
          <a:xfrm rot="0">
            <a:off x="1028700" y="2504023"/>
            <a:ext cx="8860567" cy="2491105"/>
          </a:xfrm>
          <a:prstGeom prst="rect">
            <a:avLst/>
          </a:prstGeom>
        </p:spPr>
        <p:txBody>
          <a:bodyPr anchor="t" rtlCol="false" tIns="0" lIns="0" bIns="0" rIns="0">
            <a:spAutoFit/>
          </a:bodyPr>
          <a:lstStyle/>
          <a:p>
            <a:pPr algn="l">
              <a:lnSpc>
                <a:spcPts val="3920"/>
              </a:lnSpc>
            </a:pPr>
            <a:r>
              <a:rPr lang="en-US" sz="2800">
                <a:solidFill>
                  <a:srgbClr val="694C2B"/>
                </a:solidFill>
                <a:latin typeface="Poppins"/>
                <a:ea typeface="Poppins"/>
                <a:cs typeface="Poppins"/>
                <a:sym typeface="Poppins"/>
              </a:rPr>
              <a:t>Rata-rata lilin terjual  = 3pcs/tahun</a:t>
            </a:r>
          </a:p>
          <a:p>
            <a:pPr algn="l">
              <a:lnSpc>
                <a:spcPts val="3920"/>
              </a:lnSpc>
            </a:pPr>
            <a:r>
              <a:rPr lang="en-US" sz="2800">
                <a:solidFill>
                  <a:srgbClr val="694C2B"/>
                </a:solidFill>
                <a:latin typeface="Poppins"/>
                <a:ea typeface="Poppins"/>
                <a:cs typeface="Poppins"/>
                <a:sym typeface="Poppins"/>
              </a:rPr>
              <a:t>Jumlah penduduk = 8 Miliar</a:t>
            </a:r>
          </a:p>
          <a:p>
            <a:pPr algn="l">
              <a:lnSpc>
                <a:spcPts val="3920"/>
              </a:lnSpc>
            </a:pPr>
            <a:r>
              <a:rPr lang="en-US" sz="2800">
                <a:solidFill>
                  <a:srgbClr val="694C2B"/>
                </a:solidFill>
                <a:latin typeface="Poppins"/>
                <a:ea typeface="Poppins"/>
                <a:cs typeface="Poppins"/>
                <a:sym typeface="Poppins"/>
              </a:rPr>
              <a:t>Harga rata-rata /pcs = Rp 31.000</a:t>
            </a:r>
          </a:p>
          <a:p>
            <a:pPr algn="l">
              <a:lnSpc>
                <a:spcPts val="3920"/>
              </a:lnSpc>
            </a:pPr>
            <a:r>
              <a:rPr lang="en-US" sz="2800">
                <a:solidFill>
                  <a:srgbClr val="694C2B"/>
                </a:solidFill>
                <a:latin typeface="Poppins"/>
                <a:ea typeface="Poppins"/>
                <a:cs typeface="Poppins"/>
                <a:sym typeface="Poppins"/>
              </a:rPr>
              <a:t>TAM = 3 x 31.00 x 8 miliar = Rp 744 TRILIUN/TAHUN</a:t>
            </a:r>
          </a:p>
          <a:p>
            <a:pPr algn="l">
              <a:lnSpc>
                <a:spcPts val="3920"/>
              </a:lnSpc>
            </a:pPr>
          </a:p>
        </p:txBody>
      </p:sp>
      <p:sp>
        <p:nvSpPr>
          <p:cNvPr name="TextBox 11" id="11"/>
          <p:cNvSpPr txBox="true"/>
          <p:nvPr/>
        </p:nvSpPr>
        <p:spPr>
          <a:xfrm rot="0">
            <a:off x="1028700" y="5057775"/>
            <a:ext cx="4141808" cy="509422"/>
          </a:xfrm>
          <a:prstGeom prst="rect">
            <a:avLst/>
          </a:prstGeom>
        </p:spPr>
        <p:txBody>
          <a:bodyPr anchor="t" rtlCol="false" tIns="0" lIns="0" bIns="0" rIns="0">
            <a:spAutoFit/>
          </a:bodyPr>
          <a:lstStyle/>
          <a:p>
            <a:pPr algn="l">
              <a:lnSpc>
                <a:spcPts val="3946"/>
              </a:lnSpc>
              <a:spcBef>
                <a:spcPct val="0"/>
              </a:spcBef>
            </a:pPr>
            <a:r>
              <a:rPr lang="en-US" b="true" sz="2819">
                <a:solidFill>
                  <a:srgbClr val="694C2B"/>
                </a:solidFill>
                <a:latin typeface="Poppins Bold"/>
                <a:ea typeface="Poppins Bold"/>
                <a:cs typeface="Poppins Bold"/>
                <a:sym typeface="Poppins Bold"/>
              </a:rPr>
              <a:t>SAM (Indonesia)</a:t>
            </a:r>
          </a:p>
        </p:txBody>
      </p:sp>
      <p:sp>
        <p:nvSpPr>
          <p:cNvPr name="TextBox 12" id="12"/>
          <p:cNvSpPr txBox="true"/>
          <p:nvPr/>
        </p:nvSpPr>
        <p:spPr>
          <a:xfrm rot="0">
            <a:off x="1028700" y="5833863"/>
            <a:ext cx="9316017" cy="2491105"/>
          </a:xfrm>
          <a:prstGeom prst="rect">
            <a:avLst/>
          </a:prstGeom>
        </p:spPr>
        <p:txBody>
          <a:bodyPr anchor="t" rtlCol="false" tIns="0" lIns="0" bIns="0" rIns="0">
            <a:spAutoFit/>
          </a:bodyPr>
          <a:lstStyle/>
          <a:p>
            <a:pPr algn="l">
              <a:lnSpc>
                <a:spcPts val="3920"/>
              </a:lnSpc>
            </a:pPr>
            <a:r>
              <a:rPr lang="en-US" sz="2800">
                <a:solidFill>
                  <a:srgbClr val="694C2B"/>
                </a:solidFill>
                <a:latin typeface="Poppins"/>
                <a:ea typeface="Poppins"/>
                <a:cs typeface="Poppins"/>
                <a:sym typeface="Poppins"/>
              </a:rPr>
              <a:t>Rata-rata lilin terjual  = 3pcs/tahun</a:t>
            </a:r>
          </a:p>
          <a:p>
            <a:pPr algn="l">
              <a:lnSpc>
                <a:spcPts val="3920"/>
              </a:lnSpc>
            </a:pPr>
            <a:r>
              <a:rPr lang="en-US" sz="2800">
                <a:solidFill>
                  <a:srgbClr val="694C2B"/>
                </a:solidFill>
                <a:latin typeface="Poppins"/>
                <a:ea typeface="Poppins"/>
                <a:cs typeface="Poppins"/>
                <a:sym typeface="Poppins"/>
              </a:rPr>
              <a:t>Jumlah penduduk = 282 Juta</a:t>
            </a:r>
          </a:p>
          <a:p>
            <a:pPr algn="l">
              <a:lnSpc>
                <a:spcPts val="3920"/>
              </a:lnSpc>
            </a:pPr>
            <a:r>
              <a:rPr lang="en-US" sz="2800">
                <a:solidFill>
                  <a:srgbClr val="694C2B"/>
                </a:solidFill>
                <a:latin typeface="Poppins"/>
                <a:ea typeface="Poppins"/>
                <a:cs typeface="Poppins"/>
                <a:sym typeface="Poppins"/>
              </a:rPr>
              <a:t>Harga rata-rata /pcs = Rp 31.000</a:t>
            </a:r>
          </a:p>
          <a:p>
            <a:pPr algn="l">
              <a:lnSpc>
                <a:spcPts val="3920"/>
              </a:lnSpc>
            </a:pPr>
            <a:r>
              <a:rPr lang="en-US" sz="2800">
                <a:solidFill>
                  <a:srgbClr val="694C2B"/>
                </a:solidFill>
                <a:latin typeface="Poppins"/>
                <a:ea typeface="Poppins"/>
                <a:cs typeface="Poppins"/>
                <a:sym typeface="Poppins"/>
              </a:rPr>
              <a:t>TAM = 3 x 31.00 x 282 juta = Rp 26,23 TRILIUN / TAHUN</a:t>
            </a:r>
          </a:p>
          <a:p>
            <a:pPr algn="l">
              <a:lnSpc>
                <a:spcPts val="3920"/>
              </a:lnSpc>
            </a:pPr>
          </a:p>
        </p:txBody>
      </p:sp>
      <p:sp>
        <p:nvSpPr>
          <p:cNvPr name="TextBox 13" id="13"/>
          <p:cNvSpPr txBox="true"/>
          <p:nvPr/>
        </p:nvSpPr>
        <p:spPr>
          <a:xfrm rot="0">
            <a:off x="10130388" y="1727934"/>
            <a:ext cx="5121488" cy="509422"/>
          </a:xfrm>
          <a:prstGeom prst="rect">
            <a:avLst/>
          </a:prstGeom>
        </p:spPr>
        <p:txBody>
          <a:bodyPr anchor="t" rtlCol="false" tIns="0" lIns="0" bIns="0" rIns="0">
            <a:spAutoFit/>
          </a:bodyPr>
          <a:lstStyle/>
          <a:p>
            <a:pPr algn="l">
              <a:lnSpc>
                <a:spcPts val="3946"/>
              </a:lnSpc>
              <a:spcBef>
                <a:spcPct val="0"/>
              </a:spcBef>
            </a:pPr>
            <a:r>
              <a:rPr lang="en-US" b="true" sz="2819">
                <a:solidFill>
                  <a:srgbClr val="694C2B"/>
                </a:solidFill>
                <a:latin typeface="Poppins Bold"/>
                <a:ea typeface="Poppins Bold"/>
                <a:cs typeface="Poppins Bold"/>
                <a:sym typeface="Poppins Bold"/>
              </a:rPr>
              <a:t>SOM (Jawa Tengah)</a:t>
            </a:r>
          </a:p>
        </p:txBody>
      </p:sp>
      <p:sp>
        <p:nvSpPr>
          <p:cNvPr name="TextBox 14" id="14"/>
          <p:cNvSpPr txBox="true"/>
          <p:nvPr/>
        </p:nvSpPr>
        <p:spPr>
          <a:xfrm rot="0">
            <a:off x="10130388" y="2504023"/>
            <a:ext cx="7628173" cy="2986405"/>
          </a:xfrm>
          <a:prstGeom prst="rect">
            <a:avLst/>
          </a:prstGeom>
        </p:spPr>
        <p:txBody>
          <a:bodyPr anchor="t" rtlCol="false" tIns="0" lIns="0" bIns="0" rIns="0">
            <a:spAutoFit/>
          </a:bodyPr>
          <a:lstStyle/>
          <a:p>
            <a:pPr algn="l">
              <a:lnSpc>
                <a:spcPts val="3920"/>
              </a:lnSpc>
            </a:pPr>
            <a:r>
              <a:rPr lang="en-US" sz="2800">
                <a:solidFill>
                  <a:srgbClr val="694C2B"/>
                </a:solidFill>
                <a:latin typeface="Poppins"/>
                <a:ea typeface="Poppins"/>
                <a:cs typeface="Poppins"/>
                <a:sym typeface="Poppins"/>
              </a:rPr>
              <a:t>Rata-rata lilin terjual  = 3pcs/tahun</a:t>
            </a:r>
          </a:p>
          <a:p>
            <a:pPr algn="l">
              <a:lnSpc>
                <a:spcPts val="3920"/>
              </a:lnSpc>
            </a:pPr>
            <a:r>
              <a:rPr lang="en-US" sz="2800">
                <a:solidFill>
                  <a:srgbClr val="694C2B"/>
                </a:solidFill>
                <a:latin typeface="Poppins"/>
                <a:ea typeface="Poppins"/>
                <a:cs typeface="Poppins"/>
                <a:sym typeface="Poppins"/>
              </a:rPr>
              <a:t>Jumlah penduduk = 38 Juta</a:t>
            </a:r>
          </a:p>
          <a:p>
            <a:pPr algn="l">
              <a:lnSpc>
                <a:spcPts val="3920"/>
              </a:lnSpc>
            </a:pPr>
            <a:r>
              <a:rPr lang="en-US" sz="2800">
                <a:solidFill>
                  <a:srgbClr val="694C2B"/>
                </a:solidFill>
                <a:latin typeface="Poppins"/>
                <a:ea typeface="Poppins"/>
                <a:cs typeface="Poppins"/>
                <a:sym typeface="Poppins"/>
              </a:rPr>
              <a:t>Harga rata-rata /pcs = Rp 31.000</a:t>
            </a:r>
          </a:p>
          <a:p>
            <a:pPr algn="l">
              <a:lnSpc>
                <a:spcPts val="3920"/>
              </a:lnSpc>
            </a:pPr>
            <a:r>
              <a:rPr lang="en-US" sz="2800">
                <a:solidFill>
                  <a:srgbClr val="694C2B"/>
                </a:solidFill>
                <a:latin typeface="Poppins"/>
                <a:ea typeface="Poppins"/>
                <a:cs typeface="Poppins"/>
                <a:sym typeface="Poppins"/>
              </a:rPr>
              <a:t>TAM = 3 x 31.00 x 38 Juta = Rp 3,53 TRILIUN / TAHUN</a:t>
            </a:r>
          </a:p>
          <a:p>
            <a:pPr algn="l">
              <a:lnSpc>
                <a:spcPts val="3920"/>
              </a:lnSpc>
            </a:pP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028700" y="9163919"/>
            <a:ext cx="1007887" cy="2246162"/>
            <a:chOff x="0" y="0"/>
            <a:chExt cx="407274" cy="907645"/>
          </a:xfrm>
        </p:grpSpPr>
        <p:sp>
          <p:nvSpPr>
            <p:cNvPr name="Freeform 3" id="3"/>
            <p:cNvSpPr/>
            <p:nvPr/>
          </p:nvSpPr>
          <p:spPr>
            <a:xfrm flipH="false" flipV="false" rot="0">
              <a:off x="0" y="0"/>
              <a:ext cx="407274" cy="907645"/>
            </a:xfrm>
            <a:custGeom>
              <a:avLst/>
              <a:gdLst/>
              <a:ahLst/>
              <a:cxnLst/>
              <a:rect r="r" b="b" t="t" l="l"/>
              <a:pathLst>
                <a:path h="907645" w="407274">
                  <a:moveTo>
                    <a:pt x="203637" y="0"/>
                  </a:moveTo>
                  <a:lnTo>
                    <a:pt x="203637" y="0"/>
                  </a:lnTo>
                  <a:cubicBezTo>
                    <a:pt x="257645" y="0"/>
                    <a:pt x="309441" y="21455"/>
                    <a:pt x="347630" y="59644"/>
                  </a:cubicBezTo>
                  <a:cubicBezTo>
                    <a:pt x="385820" y="97833"/>
                    <a:pt x="407274" y="149629"/>
                    <a:pt x="407274" y="203637"/>
                  </a:cubicBezTo>
                  <a:lnTo>
                    <a:pt x="407274" y="704008"/>
                  </a:lnTo>
                  <a:cubicBezTo>
                    <a:pt x="407274" y="758016"/>
                    <a:pt x="385820" y="809812"/>
                    <a:pt x="347630" y="848001"/>
                  </a:cubicBezTo>
                  <a:cubicBezTo>
                    <a:pt x="309441" y="886190"/>
                    <a:pt x="257645" y="907645"/>
                    <a:pt x="203637" y="907645"/>
                  </a:cubicBezTo>
                  <a:lnTo>
                    <a:pt x="203637" y="907645"/>
                  </a:lnTo>
                  <a:cubicBezTo>
                    <a:pt x="149629" y="907645"/>
                    <a:pt x="97833" y="886190"/>
                    <a:pt x="59644" y="848001"/>
                  </a:cubicBezTo>
                  <a:cubicBezTo>
                    <a:pt x="21455" y="809812"/>
                    <a:pt x="0" y="758016"/>
                    <a:pt x="0" y="704008"/>
                  </a:cubicBezTo>
                  <a:lnTo>
                    <a:pt x="0" y="203637"/>
                  </a:lnTo>
                  <a:cubicBezTo>
                    <a:pt x="0" y="149629"/>
                    <a:pt x="21455" y="97833"/>
                    <a:pt x="59644" y="59644"/>
                  </a:cubicBezTo>
                  <a:cubicBezTo>
                    <a:pt x="97833" y="21455"/>
                    <a:pt x="149629" y="0"/>
                    <a:pt x="203637" y="0"/>
                  </a:cubicBezTo>
                  <a:close/>
                </a:path>
              </a:pathLst>
            </a:custGeom>
            <a:gradFill rotWithShape="true">
              <a:gsLst>
                <a:gs pos="0">
                  <a:srgbClr val="EBE3D5">
                    <a:alpha val="100000"/>
                  </a:srgbClr>
                </a:gs>
                <a:gs pos="50000">
                  <a:srgbClr val="C8BDAA">
                    <a:alpha val="100000"/>
                  </a:srgbClr>
                </a:gs>
                <a:gs pos="100000">
                  <a:srgbClr val="EBE3D5">
                    <a:alpha val="100000"/>
                  </a:srgbClr>
                </a:gs>
              </a:gsLst>
              <a:lin ang="0"/>
            </a:gradFill>
          </p:spPr>
        </p:sp>
        <p:sp>
          <p:nvSpPr>
            <p:cNvPr name="TextBox 4" id="4"/>
            <p:cNvSpPr txBox="true"/>
            <p:nvPr/>
          </p:nvSpPr>
          <p:spPr>
            <a:xfrm>
              <a:off x="0" y="-47625"/>
              <a:ext cx="407274" cy="955270"/>
            </a:xfrm>
            <a:prstGeom prst="rect">
              <a:avLst/>
            </a:prstGeom>
          </p:spPr>
          <p:txBody>
            <a:bodyPr anchor="ctr" rtlCol="false" tIns="45054" lIns="45054" bIns="45054" rIns="45054"/>
            <a:lstStyle/>
            <a:p>
              <a:pPr algn="ctr">
                <a:lnSpc>
                  <a:spcPts val="1986"/>
                </a:lnSpc>
              </a:pPr>
            </a:p>
          </p:txBody>
        </p:sp>
      </p:grpSp>
      <p:sp>
        <p:nvSpPr>
          <p:cNvPr name="Freeform 5" id="5"/>
          <p:cNvSpPr/>
          <p:nvPr/>
        </p:nvSpPr>
        <p:spPr>
          <a:xfrm flipH="false" flipV="false" rot="0">
            <a:off x="2284465" y="9354470"/>
            <a:ext cx="3130446" cy="609133"/>
          </a:xfrm>
          <a:custGeom>
            <a:avLst/>
            <a:gdLst/>
            <a:ahLst/>
            <a:cxnLst/>
            <a:rect r="r" b="b" t="t" l="l"/>
            <a:pathLst>
              <a:path h="609133" w="3130446">
                <a:moveTo>
                  <a:pt x="0" y="0"/>
                </a:moveTo>
                <a:lnTo>
                  <a:pt x="3130446" y="0"/>
                </a:lnTo>
                <a:lnTo>
                  <a:pt x="3130446" y="609132"/>
                </a:lnTo>
                <a:lnTo>
                  <a:pt x="0" y="609132"/>
                </a:lnTo>
                <a:lnTo>
                  <a:pt x="0" y="0"/>
                </a:lnTo>
                <a:close/>
              </a:path>
            </a:pathLst>
          </a:custGeom>
          <a:blipFill>
            <a:blip r:embed="rId2"/>
            <a:stretch>
              <a:fillRect l="0" t="0" r="0" b="0"/>
            </a:stretch>
          </a:blipFill>
        </p:spPr>
      </p:sp>
      <p:sp>
        <p:nvSpPr>
          <p:cNvPr name="Freeform 6" id="6"/>
          <p:cNvSpPr/>
          <p:nvPr/>
        </p:nvSpPr>
        <p:spPr>
          <a:xfrm flipH="false" flipV="false" rot="0">
            <a:off x="681206" y="1565769"/>
            <a:ext cx="5266468" cy="2962388"/>
          </a:xfrm>
          <a:custGeom>
            <a:avLst/>
            <a:gdLst/>
            <a:ahLst/>
            <a:cxnLst/>
            <a:rect r="r" b="b" t="t" l="l"/>
            <a:pathLst>
              <a:path h="2962388" w="5266468">
                <a:moveTo>
                  <a:pt x="0" y="0"/>
                </a:moveTo>
                <a:lnTo>
                  <a:pt x="5266468" y="0"/>
                </a:lnTo>
                <a:lnTo>
                  <a:pt x="5266468" y="2962388"/>
                </a:lnTo>
                <a:lnTo>
                  <a:pt x="0" y="2962388"/>
                </a:lnTo>
                <a:lnTo>
                  <a:pt x="0" y="0"/>
                </a:lnTo>
                <a:close/>
              </a:path>
            </a:pathLst>
          </a:custGeom>
          <a:blipFill>
            <a:blip r:embed="rId3"/>
            <a:stretch>
              <a:fillRect l="0" t="0" r="0" b="0"/>
            </a:stretch>
          </a:blipFill>
        </p:spPr>
      </p:sp>
      <p:sp>
        <p:nvSpPr>
          <p:cNvPr name="Freeform 7" id="7"/>
          <p:cNvSpPr/>
          <p:nvPr/>
        </p:nvSpPr>
        <p:spPr>
          <a:xfrm flipH="false" flipV="false" rot="0">
            <a:off x="679105" y="5143500"/>
            <a:ext cx="5268569" cy="2963570"/>
          </a:xfrm>
          <a:custGeom>
            <a:avLst/>
            <a:gdLst/>
            <a:ahLst/>
            <a:cxnLst/>
            <a:rect r="r" b="b" t="t" l="l"/>
            <a:pathLst>
              <a:path h="2963570" w="5268569">
                <a:moveTo>
                  <a:pt x="0" y="0"/>
                </a:moveTo>
                <a:lnTo>
                  <a:pt x="5268569" y="0"/>
                </a:lnTo>
                <a:lnTo>
                  <a:pt x="5268569" y="2963570"/>
                </a:lnTo>
                <a:lnTo>
                  <a:pt x="0" y="2963570"/>
                </a:lnTo>
                <a:lnTo>
                  <a:pt x="0" y="0"/>
                </a:lnTo>
                <a:close/>
              </a:path>
            </a:pathLst>
          </a:custGeom>
          <a:blipFill>
            <a:blip r:embed="rId4"/>
            <a:stretch>
              <a:fillRect l="0" t="0" r="0" b="0"/>
            </a:stretch>
          </a:blipFill>
        </p:spPr>
      </p:sp>
      <p:sp>
        <p:nvSpPr>
          <p:cNvPr name="Freeform 8" id="8"/>
          <p:cNvSpPr/>
          <p:nvPr/>
        </p:nvSpPr>
        <p:spPr>
          <a:xfrm flipH="false" flipV="false" rot="0">
            <a:off x="6692325" y="1565769"/>
            <a:ext cx="5266468" cy="2962388"/>
          </a:xfrm>
          <a:custGeom>
            <a:avLst/>
            <a:gdLst/>
            <a:ahLst/>
            <a:cxnLst/>
            <a:rect r="r" b="b" t="t" l="l"/>
            <a:pathLst>
              <a:path h="2962388" w="5266468">
                <a:moveTo>
                  <a:pt x="0" y="0"/>
                </a:moveTo>
                <a:lnTo>
                  <a:pt x="5266468" y="0"/>
                </a:lnTo>
                <a:lnTo>
                  <a:pt x="5266468" y="2962388"/>
                </a:lnTo>
                <a:lnTo>
                  <a:pt x="0" y="2962388"/>
                </a:lnTo>
                <a:lnTo>
                  <a:pt x="0" y="0"/>
                </a:lnTo>
                <a:close/>
              </a:path>
            </a:pathLst>
          </a:custGeom>
          <a:blipFill>
            <a:blip r:embed="rId5"/>
            <a:stretch>
              <a:fillRect l="0" t="0" r="0" b="0"/>
            </a:stretch>
          </a:blipFill>
        </p:spPr>
      </p:sp>
      <p:sp>
        <p:nvSpPr>
          <p:cNvPr name="Freeform 9" id="9"/>
          <p:cNvSpPr/>
          <p:nvPr/>
        </p:nvSpPr>
        <p:spPr>
          <a:xfrm flipH="false" flipV="false" rot="0">
            <a:off x="6692325" y="5129926"/>
            <a:ext cx="5292700" cy="2977144"/>
          </a:xfrm>
          <a:custGeom>
            <a:avLst/>
            <a:gdLst/>
            <a:ahLst/>
            <a:cxnLst/>
            <a:rect r="r" b="b" t="t" l="l"/>
            <a:pathLst>
              <a:path h="2977144" w="5292700">
                <a:moveTo>
                  <a:pt x="0" y="0"/>
                </a:moveTo>
                <a:lnTo>
                  <a:pt x="5292699" y="0"/>
                </a:lnTo>
                <a:lnTo>
                  <a:pt x="5292699" y="2977144"/>
                </a:lnTo>
                <a:lnTo>
                  <a:pt x="0" y="2977144"/>
                </a:lnTo>
                <a:lnTo>
                  <a:pt x="0" y="0"/>
                </a:lnTo>
                <a:close/>
              </a:path>
            </a:pathLst>
          </a:custGeom>
          <a:blipFill>
            <a:blip r:embed="rId6"/>
            <a:stretch>
              <a:fillRect l="0" t="0" r="0" b="0"/>
            </a:stretch>
          </a:blipFill>
        </p:spPr>
      </p:sp>
      <p:sp>
        <p:nvSpPr>
          <p:cNvPr name="Freeform 10" id="10"/>
          <p:cNvSpPr/>
          <p:nvPr/>
        </p:nvSpPr>
        <p:spPr>
          <a:xfrm flipH="false" flipV="false" rot="0">
            <a:off x="12545015" y="1565769"/>
            <a:ext cx="5266468" cy="2962388"/>
          </a:xfrm>
          <a:custGeom>
            <a:avLst/>
            <a:gdLst/>
            <a:ahLst/>
            <a:cxnLst/>
            <a:rect r="r" b="b" t="t" l="l"/>
            <a:pathLst>
              <a:path h="2962388" w="5266468">
                <a:moveTo>
                  <a:pt x="0" y="0"/>
                </a:moveTo>
                <a:lnTo>
                  <a:pt x="5266467" y="0"/>
                </a:lnTo>
                <a:lnTo>
                  <a:pt x="5266467" y="2962388"/>
                </a:lnTo>
                <a:lnTo>
                  <a:pt x="0" y="2962388"/>
                </a:lnTo>
                <a:lnTo>
                  <a:pt x="0" y="0"/>
                </a:lnTo>
                <a:close/>
              </a:path>
            </a:pathLst>
          </a:custGeom>
          <a:blipFill>
            <a:blip r:embed="rId7"/>
            <a:stretch>
              <a:fillRect l="0" t="0" r="0" b="0"/>
            </a:stretch>
          </a:blipFill>
        </p:spPr>
      </p:sp>
      <p:sp>
        <p:nvSpPr>
          <p:cNvPr name="Freeform 11" id="11"/>
          <p:cNvSpPr/>
          <p:nvPr/>
        </p:nvSpPr>
        <p:spPr>
          <a:xfrm flipH="false" flipV="false" rot="0">
            <a:off x="12540983" y="5129926"/>
            <a:ext cx="5270499" cy="2964656"/>
          </a:xfrm>
          <a:custGeom>
            <a:avLst/>
            <a:gdLst/>
            <a:ahLst/>
            <a:cxnLst/>
            <a:rect r="r" b="b" t="t" l="l"/>
            <a:pathLst>
              <a:path h="2964656" w="5270499">
                <a:moveTo>
                  <a:pt x="0" y="0"/>
                </a:moveTo>
                <a:lnTo>
                  <a:pt x="5270499" y="0"/>
                </a:lnTo>
                <a:lnTo>
                  <a:pt x="5270499" y="2964656"/>
                </a:lnTo>
                <a:lnTo>
                  <a:pt x="0" y="2964656"/>
                </a:lnTo>
                <a:lnTo>
                  <a:pt x="0" y="0"/>
                </a:lnTo>
                <a:close/>
              </a:path>
            </a:pathLst>
          </a:custGeom>
          <a:blipFill>
            <a:blip r:embed="rId8"/>
            <a:stretch>
              <a:fillRect l="0" t="0" r="0" b="0"/>
            </a:stretch>
          </a:blipFill>
        </p:spPr>
      </p:sp>
      <p:sp>
        <p:nvSpPr>
          <p:cNvPr name="TextBox 12" id="12"/>
          <p:cNvSpPr txBox="true"/>
          <p:nvPr/>
        </p:nvSpPr>
        <p:spPr>
          <a:xfrm rot="0">
            <a:off x="1246238" y="9466037"/>
            <a:ext cx="572811" cy="414572"/>
          </a:xfrm>
          <a:prstGeom prst="rect">
            <a:avLst/>
          </a:prstGeom>
        </p:spPr>
        <p:txBody>
          <a:bodyPr anchor="t" rtlCol="false" tIns="0" lIns="0" bIns="0" rIns="0">
            <a:spAutoFit/>
          </a:bodyPr>
          <a:lstStyle/>
          <a:p>
            <a:pPr algn="ctr">
              <a:lnSpc>
                <a:spcPts val="3260"/>
              </a:lnSpc>
            </a:pPr>
            <a:r>
              <a:rPr lang="en-US" sz="2937" spc="328">
                <a:solidFill>
                  <a:srgbClr val="694C2B"/>
                </a:solidFill>
                <a:latin typeface="Open Sans"/>
                <a:ea typeface="Open Sans"/>
                <a:cs typeface="Open Sans"/>
                <a:sym typeface="Open Sans"/>
              </a:rPr>
              <a:t>5</a:t>
            </a:r>
          </a:p>
        </p:txBody>
      </p:sp>
      <p:sp>
        <p:nvSpPr>
          <p:cNvPr name="TextBox 13" id="13"/>
          <p:cNvSpPr txBox="true"/>
          <p:nvPr/>
        </p:nvSpPr>
        <p:spPr>
          <a:xfrm rot="0">
            <a:off x="7073096" y="552691"/>
            <a:ext cx="4141808" cy="818668"/>
          </a:xfrm>
          <a:prstGeom prst="rect">
            <a:avLst/>
          </a:prstGeom>
        </p:spPr>
        <p:txBody>
          <a:bodyPr anchor="t" rtlCol="false" tIns="0" lIns="0" bIns="0" rIns="0">
            <a:spAutoFit/>
          </a:bodyPr>
          <a:lstStyle/>
          <a:p>
            <a:pPr algn="ctr">
              <a:lnSpc>
                <a:spcPts val="6326"/>
              </a:lnSpc>
              <a:spcBef>
                <a:spcPct val="0"/>
              </a:spcBef>
            </a:pPr>
            <a:r>
              <a:rPr lang="en-US" b="true" sz="4518">
                <a:solidFill>
                  <a:srgbClr val="694C2B"/>
                </a:solidFill>
                <a:latin typeface="Poppins Bold"/>
                <a:ea typeface="Poppins Bold"/>
                <a:cs typeface="Poppins Bold"/>
                <a:sym typeface="Poppins Bold"/>
              </a:rPr>
              <a:t>Dokumentasi</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028700" y="9163919"/>
            <a:ext cx="1007887" cy="2246162"/>
            <a:chOff x="0" y="0"/>
            <a:chExt cx="407274" cy="907645"/>
          </a:xfrm>
        </p:grpSpPr>
        <p:sp>
          <p:nvSpPr>
            <p:cNvPr name="Freeform 3" id="3"/>
            <p:cNvSpPr/>
            <p:nvPr/>
          </p:nvSpPr>
          <p:spPr>
            <a:xfrm flipH="false" flipV="false" rot="0">
              <a:off x="0" y="0"/>
              <a:ext cx="407274" cy="907645"/>
            </a:xfrm>
            <a:custGeom>
              <a:avLst/>
              <a:gdLst/>
              <a:ahLst/>
              <a:cxnLst/>
              <a:rect r="r" b="b" t="t" l="l"/>
              <a:pathLst>
                <a:path h="907645" w="407274">
                  <a:moveTo>
                    <a:pt x="203637" y="0"/>
                  </a:moveTo>
                  <a:lnTo>
                    <a:pt x="203637" y="0"/>
                  </a:lnTo>
                  <a:cubicBezTo>
                    <a:pt x="257645" y="0"/>
                    <a:pt x="309441" y="21455"/>
                    <a:pt x="347630" y="59644"/>
                  </a:cubicBezTo>
                  <a:cubicBezTo>
                    <a:pt x="385820" y="97833"/>
                    <a:pt x="407274" y="149629"/>
                    <a:pt x="407274" y="203637"/>
                  </a:cubicBezTo>
                  <a:lnTo>
                    <a:pt x="407274" y="704008"/>
                  </a:lnTo>
                  <a:cubicBezTo>
                    <a:pt x="407274" y="758016"/>
                    <a:pt x="385820" y="809812"/>
                    <a:pt x="347630" y="848001"/>
                  </a:cubicBezTo>
                  <a:cubicBezTo>
                    <a:pt x="309441" y="886190"/>
                    <a:pt x="257645" y="907645"/>
                    <a:pt x="203637" y="907645"/>
                  </a:cubicBezTo>
                  <a:lnTo>
                    <a:pt x="203637" y="907645"/>
                  </a:lnTo>
                  <a:cubicBezTo>
                    <a:pt x="149629" y="907645"/>
                    <a:pt x="97833" y="886190"/>
                    <a:pt x="59644" y="848001"/>
                  </a:cubicBezTo>
                  <a:cubicBezTo>
                    <a:pt x="21455" y="809812"/>
                    <a:pt x="0" y="758016"/>
                    <a:pt x="0" y="704008"/>
                  </a:cubicBezTo>
                  <a:lnTo>
                    <a:pt x="0" y="203637"/>
                  </a:lnTo>
                  <a:cubicBezTo>
                    <a:pt x="0" y="149629"/>
                    <a:pt x="21455" y="97833"/>
                    <a:pt x="59644" y="59644"/>
                  </a:cubicBezTo>
                  <a:cubicBezTo>
                    <a:pt x="97833" y="21455"/>
                    <a:pt x="149629" y="0"/>
                    <a:pt x="203637" y="0"/>
                  </a:cubicBezTo>
                  <a:close/>
                </a:path>
              </a:pathLst>
            </a:custGeom>
            <a:gradFill rotWithShape="true">
              <a:gsLst>
                <a:gs pos="0">
                  <a:srgbClr val="EBE3D5">
                    <a:alpha val="100000"/>
                  </a:srgbClr>
                </a:gs>
                <a:gs pos="50000">
                  <a:srgbClr val="C8BDAA">
                    <a:alpha val="100000"/>
                  </a:srgbClr>
                </a:gs>
                <a:gs pos="100000">
                  <a:srgbClr val="EBE3D5">
                    <a:alpha val="100000"/>
                  </a:srgbClr>
                </a:gs>
              </a:gsLst>
              <a:lin ang="0"/>
            </a:gradFill>
          </p:spPr>
        </p:sp>
        <p:sp>
          <p:nvSpPr>
            <p:cNvPr name="TextBox 4" id="4"/>
            <p:cNvSpPr txBox="true"/>
            <p:nvPr/>
          </p:nvSpPr>
          <p:spPr>
            <a:xfrm>
              <a:off x="0" y="-47625"/>
              <a:ext cx="407274" cy="955270"/>
            </a:xfrm>
            <a:prstGeom prst="rect">
              <a:avLst/>
            </a:prstGeom>
          </p:spPr>
          <p:txBody>
            <a:bodyPr anchor="ctr" rtlCol="false" tIns="45054" lIns="45054" bIns="45054" rIns="45054"/>
            <a:lstStyle/>
            <a:p>
              <a:pPr algn="ctr">
                <a:lnSpc>
                  <a:spcPts val="1986"/>
                </a:lnSpc>
              </a:pPr>
            </a:p>
          </p:txBody>
        </p:sp>
      </p:grpSp>
      <p:sp>
        <p:nvSpPr>
          <p:cNvPr name="Freeform 5" id="5"/>
          <p:cNvSpPr/>
          <p:nvPr/>
        </p:nvSpPr>
        <p:spPr>
          <a:xfrm flipH="false" flipV="false" rot="0">
            <a:off x="2284465" y="9354470"/>
            <a:ext cx="3130446" cy="609133"/>
          </a:xfrm>
          <a:custGeom>
            <a:avLst/>
            <a:gdLst/>
            <a:ahLst/>
            <a:cxnLst/>
            <a:rect r="r" b="b" t="t" l="l"/>
            <a:pathLst>
              <a:path h="609133" w="3130446">
                <a:moveTo>
                  <a:pt x="0" y="0"/>
                </a:moveTo>
                <a:lnTo>
                  <a:pt x="3130446" y="0"/>
                </a:lnTo>
                <a:lnTo>
                  <a:pt x="3130446" y="609132"/>
                </a:lnTo>
                <a:lnTo>
                  <a:pt x="0" y="609132"/>
                </a:lnTo>
                <a:lnTo>
                  <a:pt x="0" y="0"/>
                </a:lnTo>
                <a:close/>
              </a:path>
            </a:pathLst>
          </a:custGeom>
          <a:blipFill>
            <a:blip r:embed="rId2"/>
            <a:stretch>
              <a:fillRect l="0" t="0" r="0" b="0"/>
            </a:stretch>
          </a:blipFill>
        </p:spPr>
      </p:sp>
      <p:sp>
        <p:nvSpPr>
          <p:cNvPr name="Freeform 6" id="6"/>
          <p:cNvSpPr/>
          <p:nvPr/>
        </p:nvSpPr>
        <p:spPr>
          <a:xfrm flipH="false" flipV="false" rot="0">
            <a:off x="10872004" y="2303636"/>
            <a:ext cx="4365605" cy="3274204"/>
          </a:xfrm>
          <a:custGeom>
            <a:avLst/>
            <a:gdLst/>
            <a:ahLst/>
            <a:cxnLst/>
            <a:rect r="r" b="b" t="t" l="l"/>
            <a:pathLst>
              <a:path h="3274204" w="4365605">
                <a:moveTo>
                  <a:pt x="0" y="0"/>
                </a:moveTo>
                <a:lnTo>
                  <a:pt x="4365605" y="0"/>
                </a:lnTo>
                <a:lnTo>
                  <a:pt x="4365605" y="3274204"/>
                </a:lnTo>
                <a:lnTo>
                  <a:pt x="0" y="3274204"/>
                </a:lnTo>
                <a:lnTo>
                  <a:pt x="0" y="0"/>
                </a:lnTo>
                <a:close/>
              </a:path>
            </a:pathLst>
          </a:custGeom>
          <a:blipFill>
            <a:blip r:embed="rId3"/>
            <a:stretch>
              <a:fillRect l="0" t="0" r="0" b="0"/>
            </a:stretch>
          </a:blipFill>
        </p:spPr>
      </p:sp>
      <p:sp>
        <p:nvSpPr>
          <p:cNvPr name="Freeform 7" id="7"/>
          <p:cNvSpPr/>
          <p:nvPr/>
        </p:nvSpPr>
        <p:spPr>
          <a:xfrm flipH="false" flipV="false" rot="0">
            <a:off x="1819049" y="2118767"/>
            <a:ext cx="7544519" cy="3459073"/>
          </a:xfrm>
          <a:custGeom>
            <a:avLst/>
            <a:gdLst/>
            <a:ahLst/>
            <a:cxnLst/>
            <a:rect r="r" b="b" t="t" l="l"/>
            <a:pathLst>
              <a:path h="3459073" w="7544519">
                <a:moveTo>
                  <a:pt x="0" y="0"/>
                </a:moveTo>
                <a:lnTo>
                  <a:pt x="7544518" y="0"/>
                </a:lnTo>
                <a:lnTo>
                  <a:pt x="7544518" y="3459073"/>
                </a:lnTo>
                <a:lnTo>
                  <a:pt x="0" y="3459073"/>
                </a:lnTo>
                <a:lnTo>
                  <a:pt x="0" y="0"/>
                </a:lnTo>
                <a:close/>
              </a:path>
            </a:pathLst>
          </a:custGeom>
          <a:blipFill>
            <a:blip r:embed="rId4"/>
            <a:stretch>
              <a:fillRect l="-1886" t="0" r="0" b="0"/>
            </a:stretch>
          </a:blipFill>
        </p:spPr>
      </p:sp>
      <p:sp>
        <p:nvSpPr>
          <p:cNvPr name="TextBox 8" id="8"/>
          <p:cNvSpPr txBox="true"/>
          <p:nvPr/>
        </p:nvSpPr>
        <p:spPr>
          <a:xfrm rot="0">
            <a:off x="1246238" y="9466037"/>
            <a:ext cx="572811" cy="414572"/>
          </a:xfrm>
          <a:prstGeom prst="rect">
            <a:avLst/>
          </a:prstGeom>
        </p:spPr>
        <p:txBody>
          <a:bodyPr anchor="t" rtlCol="false" tIns="0" lIns="0" bIns="0" rIns="0">
            <a:spAutoFit/>
          </a:bodyPr>
          <a:lstStyle/>
          <a:p>
            <a:pPr algn="ctr">
              <a:lnSpc>
                <a:spcPts val="3260"/>
              </a:lnSpc>
            </a:pPr>
            <a:r>
              <a:rPr lang="en-US" sz="2937" spc="328">
                <a:solidFill>
                  <a:srgbClr val="694C2B"/>
                </a:solidFill>
                <a:latin typeface="Open Sans"/>
                <a:ea typeface="Open Sans"/>
                <a:cs typeface="Open Sans"/>
                <a:sym typeface="Open Sans"/>
              </a:rPr>
              <a:t>5</a:t>
            </a:r>
          </a:p>
        </p:txBody>
      </p:sp>
      <p:sp>
        <p:nvSpPr>
          <p:cNvPr name="TextBox 9" id="9"/>
          <p:cNvSpPr txBox="true"/>
          <p:nvPr/>
        </p:nvSpPr>
        <p:spPr>
          <a:xfrm rot="0">
            <a:off x="7073096" y="552691"/>
            <a:ext cx="4141808" cy="818668"/>
          </a:xfrm>
          <a:prstGeom prst="rect">
            <a:avLst/>
          </a:prstGeom>
        </p:spPr>
        <p:txBody>
          <a:bodyPr anchor="t" rtlCol="false" tIns="0" lIns="0" bIns="0" rIns="0">
            <a:spAutoFit/>
          </a:bodyPr>
          <a:lstStyle/>
          <a:p>
            <a:pPr algn="ctr">
              <a:lnSpc>
                <a:spcPts val="6326"/>
              </a:lnSpc>
              <a:spcBef>
                <a:spcPct val="0"/>
              </a:spcBef>
            </a:pPr>
            <a:r>
              <a:rPr lang="en-US" b="true" sz="4518">
                <a:solidFill>
                  <a:srgbClr val="694C2B"/>
                </a:solidFill>
                <a:latin typeface="Poppins Bold"/>
                <a:ea typeface="Poppins Bold"/>
                <a:cs typeface="Poppins Bold"/>
                <a:sym typeface="Poppins Bold"/>
              </a:rPr>
              <a:t>Dokumentasi</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251413" y="8585399"/>
            <a:ext cx="1007887" cy="2141387"/>
            <a:chOff x="0" y="0"/>
            <a:chExt cx="407274" cy="865307"/>
          </a:xfrm>
        </p:grpSpPr>
        <p:sp>
          <p:nvSpPr>
            <p:cNvPr name="Freeform 3" id="3"/>
            <p:cNvSpPr/>
            <p:nvPr/>
          </p:nvSpPr>
          <p:spPr>
            <a:xfrm flipH="false" flipV="false" rot="0">
              <a:off x="0" y="0"/>
              <a:ext cx="407274" cy="865307"/>
            </a:xfrm>
            <a:custGeom>
              <a:avLst/>
              <a:gdLst/>
              <a:ahLst/>
              <a:cxnLst/>
              <a:rect r="r" b="b" t="t" l="l"/>
              <a:pathLst>
                <a:path h="865307" w="407274">
                  <a:moveTo>
                    <a:pt x="203637" y="0"/>
                  </a:moveTo>
                  <a:lnTo>
                    <a:pt x="203637" y="0"/>
                  </a:lnTo>
                  <a:cubicBezTo>
                    <a:pt x="257645" y="0"/>
                    <a:pt x="309441" y="21455"/>
                    <a:pt x="347630" y="59644"/>
                  </a:cubicBezTo>
                  <a:cubicBezTo>
                    <a:pt x="385820" y="97833"/>
                    <a:pt x="407274" y="149629"/>
                    <a:pt x="407274" y="203637"/>
                  </a:cubicBezTo>
                  <a:lnTo>
                    <a:pt x="407274" y="661670"/>
                  </a:lnTo>
                  <a:cubicBezTo>
                    <a:pt x="407274" y="715678"/>
                    <a:pt x="385820" y="767473"/>
                    <a:pt x="347630" y="805663"/>
                  </a:cubicBezTo>
                  <a:cubicBezTo>
                    <a:pt x="309441" y="843852"/>
                    <a:pt x="257645" y="865307"/>
                    <a:pt x="203637" y="865307"/>
                  </a:cubicBezTo>
                  <a:lnTo>
                    <a:pt x="203637" y="865307"/>
                  </a:lnTo>
                  <a:cubicBezTo>
                    <a:pt x="149629" y="865307"/>
                    <a:pt x="97833" y="843852"/>
                    <a:pt x="59644" y="805663"/>
                  </a:cubicBezTo>
                  <a:cubicBezTo>
                    <a:pt x="21455" y="767473"/>
                    <a:pt x="0" y="715678"/>
                    <a:pt x="0" y="661670"/>
                  </a:cubicBezTo>
                  <a:lnTo>
                    <a:pt x="0" y="203637"/>
                  </a:lnTo>
                  <a:cubicBezTo>
                    <a:pt x="0" y="149629"/>
                    <a:pt x="21455" y="97833"/>
                    <a:pt x="59644" y="59644"/>
                  </a:cubicBezTo>
                  <a:cubicBezTo>
                    <a:pt x="97833" y="21455"/>
                    <a:pt x="149629" y="0"/>
                    <a:pt x="203637" y="0"/>
                  </a:cubicBezTo>
                  <a:close/>
                </a:path>
              </a:pathLst>
            </a:custGeom>
            <a:gradFill rotWithShape="true">
              <a:gsLst>
                <a:gs pos="0">
                  <a:srgbClr val="EBE3D5">
                    <a:alpha val="100000"/>
                  </a:srgbClr>
                </a:gs>
                <a:gs pos="50000">
                  <a:srgbClr val="C8BDAA">
                    <a:alpha val="100000"/>
                  </a:srgbClr>
                </a:gs>
                <a:gs pos="100000">
                  <a:srgbClr val="EBE3D5">
                    <a:alpha val="100000"/>
                  </a:srgbClr>
                </a:gs>
              </a:gsLst>
              <a:lin ang="0"/>
            </a:gradFill>
          </p:spPr>
        </p:sp>
        <p:sp>
          <p:nvSpPr>
            <p:cNvPr name="TextBox 4" id="4"/>
            <p:cNvSpPr txBox="true"/>
            <p:nvPr/>
          </p:nvSpPr>
          <p:spPr>
            <a:xfrm>
              <a:off x="0" y="-47625"/>
              <a:ext cx="407274" cy="912932"/>
            </a:xfrm>
            <a:prstGeom prst="rect">
              <a:avLst/>
            </a:prstGeom>
          </p:spPr>
          <p:txBody>
            <a:bodyPr anchor="ctr" rtlCol="false" tIns="45054" lIns="45054" bIns="45054" rIns="45054"/>
            <a:lstStyle/>
            <a:p>
              <a:pPr algn="ctr">
                <a:lnSpc>
                  <a:spcPts val="1986"/>
                </a:lnSpc>
              </a:pPr>
            </a:p>
          </p:txBody>
        </p:sp>
      </p:grpSp>
      <p:grpSp>
        <p:nvGrpSpPr>
          <p:cNvPr name="Group 5" id="5"/>
          <p:cNvGrpSpPr/>
          <p:nvPr/>
        </p:nvGrpSpPr>
        <p:grpSpPr>
          <a:xfrm rot="0">
            <a:off x="732032" y="-1825016"/>
            <a:ext cx="3474974" cy="8467605"/>
            <a:chOff x="0" y="0"/>
            <a:chExt cx="1404192" cy="3421649"/>
          </a:xfrm>
        </p:grpSpPr>
        <p:sp>
          <p:nvSpPr>
            <p:cNvPr name="Freeform 6" id="6"/>
            <p:cNvSpPr/>
            <p:nvPr/>
          </p:nvSpPr>
          <p:spPr>
            <a:xfrm flipH="false" flipV="false" rot="0">
              <a:off x="0" y="0"/>
              <a:ext cx="1404192" cy="3421649"/>
            </a:xfrm>
            <a:custGeom>
              <a:avLst/>
              <a:gdLst/>
              <a:ahLst/>
              <a:cxnLst/>
              <a:rect r="r" b="b" t="t" l="l"/>
              <a:pathLst>
                <a:path h="3421649" w="1404192">
                  <a:moveTo>
                    <a:pt x="222791" y="0"/>
                  </a:moveTo>
                  <a:lnTo>
                    <a:pt x="1181401" y="0"/>
                  </a:lnTo>
                  <a:cubicBezTo>
                    <a:pt x="1240489" y="0"/>
                    <a:pt x="1297156" y="23473"/>
                    <a:pt x="1338938" y="65254"/>
                  </a:cubicBezTo>
                  <a:cubicBezTo>
                    <a:pt x="1380719" y="107035"/>
                    <a:pt x="1404192" y="163703"/>
                    <a:pt x="1404192" y="222791"/>
                  </a:cubicBezTo>
                  <a:lnTo>
                    <a:pt x="1404192" y="3198859"/>
                  </a:lnTo>
                  <a:cubicBezTo>
                    <a:pt x="1404192" y="3321903"/>
                    <a:pt x="1304445" y="3421649"/>
                    <a:pt x="1181401" y="3421649"/>
                  </a:cubicBezTo>
                  <a:lnTo>
                    <a:pt x="222791" y="3421649"/>
                  </a:lnTo>
                  <a:cubicBezTo>
                    <a:pt x="163703" y="3421649"/>
                    <a:pt x="107035" y="3398177"/>
                    <a:pt x="65254" y="3356396"/>
                  </a:cubicBezTo>
                  <a:cubicBezTo>
                    <a:pt x="23473" y="3314614"/>
                    <a:pt x="0" y="3257946"/>
                    <a:pt x="0" y="3198859"/>
                  </a:cubicBezTo>
                  <a:lnTo>
                    <a:pt x="0" y="222791"/>
                  </a:lnTo>
                  <a:cubicBezTo>
                    <a:pt x="0" y="163703"/>
                    <a:pt x="23473" y="107035"/>
                    <a:pt x="65254" y="65254"/>
                  </a:cubicBezTo>
                  <a:cubicBezTo>
                    <a:pt x="107035" y="23473"/>
                    <a:pt x="163703" y="0"/>
                    <a:pt x="222791" y="0"/>
                  </a:cubicBezTo>
                  <a:close/>
                </a:path>
              </a:pathLst>
            </a:custGeom>
            <a:gradFill rotWithShape="true">
              <a:gsLst>
                <a:gs pos="0">
                  <a:srgbClr val="EBE3D5">
                    <a:alpha val="100000"/>
                  </a:srgbClr>
                </a:gs>
                <a:gs pos="50000">
                  <a:srgbClr val="C8BDAA">
                    <a:alpha val="100000"/>
                  </a:srgbClr>
                </a:gs>
                <a:gs pos="100000">
                  <a:srgbClr val="EBE3D5">
                    <a:alpha val="100000"/>
                  </a:srgbClr>
                </a:gs>
              </a:gsLst>
              <a:lin ang="0"/>
            </a:gradFill>
          </p:spPr>
        </p:sp>
        <p:sp>
          <p:nvSpPr>
            <p:cNvPr name="TextBox 7" id="7"/>
            <p:cNvSpPr txBox="true"/>
            <p:nvPr/>
          </p:nvSpPr>
          <p:spPr>
            <a:xfrm>
              <a:off x="0" y="-47625"/>
              <a:ext cx="1404192" cy="3469274"/>
            </a:xfrm>
            <a:prstGeom prst="rect">
              <a:avLst/>
            </a:prstGeom>
          </p:spPr>
          <p:txBody>
            <a:bodyPr anchor="ctr" rtlCol="false" tIns="45054" lIns="45054" bIns="45054" rIns="45054"/>
            <a:lstStyle/>
            <a:p>
              <a:pPr algn="ctr">
                <a:lnSpc>
                  <a:spcPts val="1986"/>
                </a:lnSpc>
              </a:pPr>
            </a:p>
          </p:txBody>
        </p:sp>
      </p:grpSp>
      <p:sp>
        <p:nvSpPr>
          <p:cNvPr name="Freeform 8" id="8"/>
          <p:cNvSpPr/>
          <p:nvPr/>
        </p:nvSpPr>
        <p:spPr>
          <a:xfrm flipH="false" flipV="false" rot="0">
            <a:off x="12077966" y="9179768"/>
            <a:ext cx="4173447" cy="812083"/>
          </a:xfrm>
          <a:custGeom>
            <a:avLst/>
            <a:gdLst/>
            <a:ahLst/>
            <a:cxnLst/>
            <a:rect r="r" b="b" t="t" l="l"/>
            <a:pathLst>
              <a:path h="812083" w="4173447">
                <a:moveTo>
                  <a:pt x="0" y="0"/>
                </a:moveTo>
                <a:lnTo>
                  <a:pt x="4173447" y="0"/>
                </a:lnTo>
                <a:lnTo>
                  <a:pt x="4173447" y="812083"/>
                </a:lnTo>
                <a:lnTo>
                  <a:pt x="0" y="812083"/>
                </a:lnTo>
                <a:lnTo>
                  <a:pt x="0" y="0"/>
                </a:lnTo>
                <a:close/>
              </a:path>
            </a:pathLst>
          </a:custGeom>
          <a:blipFill>
            <a:blip r:embed="rId2"/>
            <a:stretch>
              <a:fillRect l="0" t="0" r="0" b="0"/>
            </a:stretch>
          </a:blipFill>
        </p:spPr>
      </p:sp>
      <p:sp>
        <p:nvSpPr>
          <p:cNvPr name="TextBox 9" id="9"/>
          <p:cNvSpPr txBox="true"/>
          <p:nvPr/>
        </p:nvSpPr>
        <p:spPr>
          <a:xfrm rot="0">
            <a:off x="16468951" y="9208343"/>
            <a:ext cx="572811" cy="414572"/>
          </a:xfrm>
          <a:prstGeom prst="rect">
            <a:avLst/>
          </a:prstGeom>
        </p:spPr>
        <p:txBody>
          <a:bodyPr anchor="t" rtlCol="false" tIns="0" lIns="0" bIns="0" rIns="0">
            <a:spAutoFit/>
          </a:bodyPr>
          <a:lstStyle/>
          <a:p>
            <a:pPr algn="ctr">
              <a:lnSpc>
                <a:spcPts val="3260"/>
              </a:lnSpc>
            </a:pPr>
            <a:r>
              <a:rPr lang="en-US" sz="2937" spc="328">
                <a:solidFill>
                  <a:srgbClr val="694C2B"/>
                </a:solidFill>
                <a:latin typeface="Open Sans"/>
                <a:ea typeface="Open Sans"/>
                <a:cs typeface="Open Sans"/>
                <a:sym typeface="Open Sans"/>
              </a:rPr>
              <a:t>12</a:t>
            </a:r>
          </a:p>
        </p:txBody>
      </p:sp>
      <p:sp>
        <p:nvSpPr>
          <p:cNvPr name="TextBox 10" id="10"/>
          <p:cNvSpPr txBox="true"/>
          <p:nvPr/>
        </p:nvSpPr>
        <p:spPr>
          <a:xfrm rot="0">
            <a:off x="3025117" y="1588167"/>
            <a:ext cx="12460510" cy="2318767"/>
          </a:xfrm>
          <a:prstGeom prst="rect">
            <a:avLst/>
          </a:prstGeom>
        </p:spPr>
        <p:txBody>
          <a:bodyPr anchor="t" rtlCol="false" tIns="0" lIns="0" bIns="0" rIns="0">
            <a:spAutoFit/>
          </a:bodyPr>
          <a:lstStyle/>
          <a:p>
            <a:pPr algn="l">
              <a:lnSpc>
                <a:spcPts val="18394"/>
              </a:lnSpc>
            </a:pPr>
            <a:r>
              <a:rPr lang="en-US" sz="15077" b="true">
                <a:solidFill>
                  <a:srgbClr val="694C2B"/>
                </a:solidFill>
                <a:latin typeface="Playfair Display Heavy"/>
                <a:ea typeface="Playfair Display Heavy"/>
                <a:cs typeface="Playfair Display Heavy"/>
                <a:sym typeface="Playfair Display Heavy"/>
              </a:rPr>
              <a:t>Terima Kasih</a:t>
            </a:r>
          </a:p>
        </p:txBody>
      </p:sp>
      <p:sp>
        <p:nvSpPr>
          <p:cNvPr name="TextBox 11" id="11"/>
          <p:cNvSpPr txBox="true"/>
          <p:nvPr/>
        </p:nvSpPr>
        <p:spPr>
          <a:xfrm rot="0">
            <a:off x="3653790" y="4023310"/>
            <a:ext cx="10980420" cy="1445413"/>
          </a:xfrm>
          <a:prstGeom prst="rect">
            <a:avLst/>
          </a:prstGeom>
        </p:spPr>
        <p:txBody>
          <a:bodyPr anchor="t" rtlCol="false" tIns="0" lIns="0" bIns="0" rIns="0">
            <a:spAutoFit/>
          </a:bodyPr>
          <a:lstStyle/>
          <a:p>
            <a:pPr algn="ctr">
              <a:lnSpc>
                <a:spcPts val="3806"/>
              </a:lnSpc>
              <a:spcBef>
                <a:spcPct val="0"/>
              </a:spcBef>
            </a:pPr>
            <a:r>
              <a:rPr lang="en-US" sz="2718">
                <a:solidFill>
                  <a:srgbClr val="694C2B"/>
                </a:solidFill>
                <a:latin typeface="Poppins"/>
                <a:ea typeface="Poppins"/>
                <a:cs typeface="Poppins"/>
                <a:sym typeface="Poppins"/>
              </a:rPr>
              <a:t>Link Drive : https://drive.google.com/drive/folders/1dd3AluX3fqJhXdA6m3GAwsCdhFk7JjcP?usp=drive_link</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DAG7j0YxdTQ</dc:identifier>
  <dcterms:modified xsi:type="dcterms:W3CDTF">2011-08-01T06:04:30Z</dcterms:modified>
  <cp:revision>1</cp:revision>
  <dc:title>Peluang Usaha ECOXYZTEM</dc:title>
</cp:coreProperties>
</file>